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81b3245abc8417d" /><Relationship Type="http://schemas.openxmlformats.org/officeDocument/2006/relationships/extended-properties" Target="/docProps/app.xml" Id="R6860f81690914ae0" /><Relationship Type="http://schemas.openxmlformats.org/officeDocument/2006/relationships/officeDocument" Target="/ppt/presentation.xml" Id="R95198dd48eae452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c84a148a46e4eda"/>
  </p:sldMasterIdLst>
  <p:notesMasterIdLst>
    <p:notesMasterId xmlns:r="http://schemas.openxmlformats.org/officeDocument/2006/relationships" r:id="R727f8bc880684b6e"/>
  </p:notesMasterIdLst>
  <p:sldIdLst>
    <p:sldId xmlns:r="http://schemas.openxmlformats.org/officeDocument/2006/relationships" id="256" r:id="Rb76e73c108764520"/>
    <p:sldId xmlns:r="http://schemas.openxmlformats.org/officeDocument/2006/relationships" id="257" r:id="Rc7e47be945af4065"/>
    <p:sldId xmlns:r="http://schemas.openxmlformats.org/officeDocument/2006/relationships" id="258" r:id="Rcdea4f221b9d45b9"/>
    <p:sldId xmlns:r="http://schemas.openxmlformats.org/officeDocument/2006/relationships" id="259" r:id="R59a8299eded74eed"/>
    <p:sldId xmlns:r="http://schemas.openxmlformats.org/officeDocument/2006/relationships" id="260" r:id="R22d0e9bc0f9d4807"/>
    <p:sldId xmlns:r="http://schemas.openxmlformats.org/officeDocument/2006/relationships" id="261" r:id="Rbfc18fde58ac40a6"/>
    <p:sldId xmlns:r="http://schemas.openxmlformats.org/officeDocument/2006/relationships" id="262" r:id="Rf673728a2b3a4b4b"/>
    <p:sldId xmlns:r="http://schemas.openxmlformats.org/officeDocument/2006/relationships" id="263" r:id="R1fbfe4e244874e58"/>
    <p:sldId xmlns:r="http://schemas.openxmlformats.org/officeDocument/2006/relationships" id="264" r:id="R27f0c5b9f522477f"/>
    <p:sldId xmlns:r="http://schemas.openxmlformats.org/officeDocument/2006/relationships" id="265" r:id="R0f24c841f84b412d"/>
    <p:sldId xmlns:r="http://schemas.openxmlformats.org/officeDocument/2006/relationships" id="266" r:id="R06bbbfa5f2b44e9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7938e0205864c55" /><Relationship Type="http://schemas.openxmlformats.org/officeDocument/2006/relationships/slideMaster" Target="/ppt/slideMasters/slideMaster1.xml" Id="R7c84a148a46e4eda" /><Relationship Type="http://schemas.openxmlformats.org/officeDocument/2006/relationships/notesMaster" Target="/ppt/notesMasters/notesMaster1.xml" Id="R727f8bc880684b6e" /><Relationship Type="http://schemas.openxmlformats.org/officeDocument/2006/relationships/presProps" Target="/ppt/presProps.xml" Id="R2d46d9749b4a4260" /><Relationship Type="http://schemas.openxmlformats.org/officeDocument/2006/relationships/tableStyles" Target="/ppt/tableStyles.xml" Id="Rb53324a728f34abc" /><Relationship Type="http://schemas.openxmlformats.org/officeDocument/2006/relationships/slide" Target="/ppt/slides/slide1.xml" Id="Rb76e73c108764520" /><Relationship Type="http://schemas.openxmlformats.org/officeDocument/2006/relationships/slide" Target="/ppt/slides/slide2.xml" Id="Rc7e47be945af4065" /><Relationship Type="http://schemas.openxmlformats.org/officeDocument/2006/relationships/slide" Target="/ppt/slides/slide3.xml" Id="Rcdea4f221b9d45b9" /><Relationship Type="http://schemas.openxmlformats.org/officeDocument/2006/relationships/slide" Target="/ppt/slides/slide4.xml" Id="R59a8299eded74eed" /><Relationship Type="http://schemas.openxmlformats.org/officeDocument/2006/relationships/slide" Target="/ppt/slides/slide5.xml" Id="R22d0e9bc0f9d4807" /><Relationship Type="http://schemas.openxmlformats.org/officeDocument/2006/relationships/slide" Target="/ppt/slides/slide6.xml" Id="Rbfc18fde58ac40a6" /><Relationship Type="http://schemas.openxmlformats.org/officeDocument/2006/relationships/slide" Target="/ppt/slides/slide7.xml" Id="Rf673728a2b3a4b4b" /><Relationship Type="http://schemas.openxmlformats.org/officeDocument/2006/relationships/slide" Target="/ppt/slides/slide8.xml" Id="R1fbfe4e244874e58" /><Relationship Type="http://schemas.openxmlformats.org/officeDocument/2006/relationships/slide" Target="/ppt/slides/slide9.xml" Id="R27f0c5b9f522477f" /><Relationship Type="http://schemas.openxmlformats.org/officeDocument/2006/relationships/slide" Target="/ppt/slides/slide10.xml" Id="R0f24c841f84b412d" /><Relationship Type="http://schemas.openxmlformats.org/officeDocument/2006/relationships/slide" Target="/ppt/slides/slide11.xml" Id="R06bbbfa5f2b44e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a2f985e5691497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8cff28d3a8046de" /><Relationship Type="http://schemas.openxmlformats.org/officeDocument/2006/relationships/notesMaster" Target="/ppt/notesMasters/notesMaster1.xml" Id="R06684069fb7f4f8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a9de5ec67a64534" /><Relationship Type="http://schemas.openxmlformats.org/officeDocument/2006/relationships/notesMaster" Target="/ppt/notesMasters/notesMaster1.xml" Id="R5475620a3a784e2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8e8fa3f490a4b5c" /><Relationship Type="http://schemas.openxmlformats.org/officeDocument/2006/relationships/notesMaster" Target="/ppt/notesMasters/notesMaster1.xml" Id="R144a07e432d24db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3ab0588094f46ed" /><Relationship Type="http://schemas.openxmlformats.org/officeDocument/2006/relationships/notesMaster" Target="/ppt/notesMasters/notesMaster1.xml" Id="R84920dce76464d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fe0e3dfcef74b3e" /><Relationship Type="http://schemas.openxmlformats.org/officeDocument/2006/relationships/notesMaster" Target="/ppt/notesMasters/notesMaster1.xml" Id="R229ca6d8708d4d1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a0e8340cb4d4223" /><Relationship Type="http://schemas.openxmlformats.org/officeDocument/2006/relationships/notesMaster" Target="/ppt/notesMasters/notesMaster1.xml" Id="R815e306fcdc542d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c96fdc8bd90491d" /><Relationship Type="http://schemas.openxmlformats.org/officeDocument/2006/relationships/notesMaster" Target="/ppt/notesMasters/notesMaster1.xml" Id="Ra1c6a88b5a4249e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1e9653ad6a84bdd" /><Relationship Type="http://schemas.openxmlformats.org/officeDocument/2006/relationships/notesMaster" Target="/ppt/notesMasters/notesMaster1.xml" Id="Rfdd481defd9e4ed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8b9becec2f64541" /><Relationship Type="http://schemas.openxmlformats.org/officeDocument/2006/relationships/notesMaster" Target="/ppt/notesMasters/notesMaster1.xml" Id="R008b2ddfa8894d5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683fe1c922f46a6" /><Relationship Type="http://schemas.openxmlformats.org/officeDocument/2006/relationships/notesMaster" Target="/ppt/notesMasters/notesMaster1.xml" Id="R239aa3db6f91483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d3c671d8fbc43a5" /><Relationship Type="http://schemas.openxmlformats.org/officeDocument/2006/relationships/notesMaster" Target="/ppt/notesMasters/notesMaster1.xml" Id="Rdcdbc6c857db46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reading a confident claim about a local business with nothing behind it. Ask how we would check. Then start Round 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Three minutes. Market research gathers and analyzes data about consumers, competitors, and market trends using surveys, interviews, focus groups, and product testing.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https://www.investopedia.com/terms/m/market-research.asp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Purdue OWL's criteria: author expertise, intended audience, fact versus opinion versus propaganda, objective language, sufficient evidence, cross-referencing, timeliness, and a reference list. Print this slide as a handout if you can.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https://owl.purdue.edu/owl/research_and_citation/conducting_research/evaluating_sources_of_information/general_guidelines.html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Facilitation: 5 minutes working, 2 minutes of cut sources read aloud. Students who brought nothing pair with someone who did.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https://owl.purdue.edu/owl/research_and_citation/conducting_research/evaluating_sources_of_information/general_guidelines.html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Facilitation: circulate and ask students to read you the source, not the finding. If they cannot say where it came from, the round is not done for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https://www.investopedia.com/terms/m/market-research.asp</a:t>
            </a:r>
          </a:p>
          <a:p xmlns:a="http://schemas.openxmlformats.org/drawingml/2006/main">
            <a:r>
              <a:t>- https://owl.purdue.edu/owl/research_and_citation/conducting_research/evaluating_sources_of_information/general_guidelines.html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Investopedia names two types: comparative advantage, producing the same thing more cheaply, and differential advantage, offering something hard to copy. Push students to say which one their business has.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https://www.investopedia.com/terms/c/competitive_advantage.asp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Investopedia stresses SWOT works when people supply realistic data points rather than prescribed messaging. An empty threats box usually means the student is being polite, not thorough.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https://www.investopedia.com/terms/s/swot.asp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the when concrete. A question with no date attached does not get asked.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https://www.investopedia.com/terms/m/market-research.asp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who arrive at Meeting 4 without this cannot draft. Say that now, not next week.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Assignment: finish all five questions with sources logged, and send the primary-data questions from Round 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if students or reviewers want the research base.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https://www.investopedia.com/terms/m/market-research.asp</a:t>
            </a:r>
          </a:p>
          <a:p xmlns:a="http://schemas.openxmlformats.org/drawingml/2006/main">
            <a:r>
              <a:t>- https://owl.purdue.edu/owl/research_and_citation/conducting_research/evaluating_sources_of_information/general_guidelines.html</a:t>
            </a:r>
          </a:p>
          <a:p xmlns:a="http://schemas.openxmlformats.org/drawingml/2006/main">
            <a:r>
              <a:t>- https://www.investopedia.com/terms/c/competitive_advantage.asp</a:t>
            </a:r>
          </a:p>
          <a:p xmlns:a="http://schemas.openxmlformats.org/drawingml/2006/main">
            <a:r>
              <a:t>- https://www.investopedia.com/terms/s/swot.asp</a:t>
            </a:r>
          </a:p>
          <a:p xmlns:a="http://schemas.openxmlformats.org/drawingml/2006/main">
            <a:r>
              <a:t>- https://www.investopedia.com/terms/b/businessmodel.asp</a:t>
            </a:r>
          </a:p>
          <a:p xmlns:a="http://schemas.openxmlformats.org/drawingml/2006/main">
            <a:r>
              <a:t>- https://www.investopedia.com/terms/b/business-plan.asp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595e973a4a4ea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4cef46ccff24b1c" /><Relationship Type="http://schemas.openxmlformats.org/officeDocument/2006/relationships/slideLayout" Target="/ppt/slideLayouts/slideLayout1.xml" Id="Rb727446cc77d476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727446cc77d476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7a2b9eca14f09" /><Relationship Type="http://schemas.openxmlformats.org/officeDocument/2006/relationships/notesSlide" Target="/ppt/notesSlides/notesSlide1.xml" Id="R08edcb123cbf44a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81b27ea0f34ba3" /><Relationship Type="http://schemas.openxmlformats.org/officeDocument/2006/relationships/notesSlide" Target="/ppt/notesSlides/notesSlide2.xml" Id="R26a61d3ffd4f43a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4697bb9cdd47c5" /><Relationship Type="http://schemas.openxmlformats.org/officeDocument/2006/relationships/notesSlide" Target="/ppt/notesSlides/notesSlide3.xml" Id="R977f8019f8294fe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2ec4e12a2044d1" /><Relationship Type="http://schemas.openxmlformats.org/officeDocument/2006/relationships/notesSlide" Target="/ppt/notesSlides/notesSlide4.xml" Id="Ra94da110331c465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369d8d90e943e5" /><Relationship Type="http://schemas.openxmlformats.org/officeDocument/2006/relationships/notesSlide" Target="/ppt/notesSlides/notesSlide5.xml" Id="R6e339ae73379483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37825b34f741c2" /><Relationship Type="http://schemas.openxmlformats.org/officeDocument/2006/relationships/notesSlide" Target="/ppt/notesSlides/notesSlide6.xml" Id="R54c61eba5273484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879dce3d1240a5" /><Relationship Type="http://schemas.openxmlformats.org/officeDocument/2006/relationships/notesSlide" Target="/ppt/notesSlides/notesSlide7.xml" Id="Rec515fc56bc1409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d7713fcae343e6" /><Relationship Type="http://schemas.openxmlformats.org/officeDocument/2006/relationships/notesSlide" Target="/ppt/notesSlides/notesSlide8.xml" Id="Rfc8690bf3b3343b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20bea54acb4bdd" /><Relationship Type="http://schemas.openxmlformats.org/officeDocument/2006/relationships/notesSlide" Target="/ppt/notesSlides/notesSlide9.xml" Id="Rce015f631f234b6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fa553d7e71418a" /><Relationship Type="http://schemas.openxmlformats.org/officeDocument/2006/relationships/notesSlide" Target="/ppt/notesSlides/notesSlide10.xml" Id="R564f3a09ab19456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78bff411934a99" /><Relationship Type="http://schemas.openxmlformats.org/officeDocument/2006/relationships/notesSlide" Target="/ppt/notesSlides/notesSlide11.xml" Id="Rd9702e4b612443b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0AA180-C986-4EE1-8EC0-EBCD68379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0"/>
            <a:ext cx="5524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08D2BA-CE2F-40FC-A22D-E1556FB8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143000"/>
            <a:ext cx="4381500" cy="4572000"/>
          </a:xfrm>
          <a:prstGeom xmlns:a="http://schemas.openxmlformats.org/drawingml/2006/main" prst="roundRect">
            <a:avLst>
              <a:gd name="adj" fmla="val 1739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B0A05A-F841-461A-B645-50BB5C569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00200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MEETING 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C93E81-C2E7-4172-976D-1315A1CFD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14550"/>
            <a:ext cx="36576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Business</a:t>
            </a:r>
          </a:p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research lab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055B42-C59A-439F-BA44-F7C5346A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CAREER CANVAS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075E08-06DC-4B94-931B-8F58997A1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6858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67ABD-1FFC-48CA-9369-B5485DE0F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476250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Business</a:t>
            </a:r>
          </a:p>
          <a:p xmlns:a="http://schemas.openxmlformats.org/drawingml/2006/main">
            <a:pPr algn="l">
              <a:defRPr sz="4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research lab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39F20B-B219-447C-BB8C-77DF95BB4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4476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Five rounds of hunting, judging, and throwing sources out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9F06EC-A018-4F16-A157-BB271606B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Meeting 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1F2617-3F79-48AC-BF28-842255EBF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Designed by Jada Lin and Olivia Zheng</a:t>
            </a:r>
          </a:p>
          <a:p xmlns:a="http://schemas.openxmlformats.org/drawingml/2006/main">
            <a:pPr algn="l">
              <a:defRPr sz="10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Great Neck South</a:t>
            </a:r>
          </a:p>
        </p:txBody>
      </p:sp>
    </p:spTree>
    <p:extLst>
      <p:ext uri="{BB962C8B-B14F-4D97-AF65-F5344CB8AC3E}">
        <p14:creationId xmlns:p14="http://schemas.microsoft.com/office/powerpoint/2010/main" val="1421383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61A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2E332F-3258-4F3C-A71A-BF6FB86E5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THE ONLY THING WE TEACH TODAY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7AEE71-ED03-4FFD-B4DF-292D0A28D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810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Two kinds of data, and you need both.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BD8894-0EA7-4F0A-A42E-9C119272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0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70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650546-4C71-4F57-9480-9ACCEDE1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552700"/>
            <a:ext cx="6667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Primary data is what you collect yourself. Secondary data already exists somewhere else.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2FF617-35AC-4353-9657-C51565BAF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9858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7E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1EA2AA-E4A3-4A77-A940-557B26BD9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990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Your interview answer from last meeting is primary. Everything you find today is secondary. Today you get both on paper.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05EBF9-1257-48EE-A06E-CCE12C1D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7E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328E4C-DAD3-4551-8FCB-2DB35716F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Source: Investopedia, Market Research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9C6C39-F66C-4E5B-BB25-DF006D644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292737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F0B9FE-9C68-4E8F-9AC9-D891D12E7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YOUR JUDGING CARD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32FCED-D53F-4025-89BA-F2F1D4C56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Keep this in front of you all meeting.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3C304A-0EFA-4060-8B73-E826158D1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You will run every source you find today against these two columns. It is the tool, not a lecture.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6F270C-F874-48F6-980B-94DAE55DF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4905375" cy="38100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53A4EA-4CD0-4BA0-831F-6002239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490537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366FD2-CB7A-4851-97D7-10FF98EF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717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KEEP 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0374B5-CBD0-41DE-B28F-4B9536032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146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A3030C-30B7-4F1B-8C34-D8D0BAEED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4133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A named author with relevant expertise.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90EE31-9910-4B25-956F-6BA5E3666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FE2497-15A0-46CB-AF57-AB4DC4974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43300"/>
            <a:ext cx="4133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Facts separated from opinion.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1D7501-A10D-4F25-9DC3-317E232BF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243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B314EF-A604-4648-BF51-4B4876CE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48150"/>
            <a:ext cx="4133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Objective language, not loaded language.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AC64DC-DA22-4EC0-BCAA-121C928DA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292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D09811-1634-438B-A685-BBC03213B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53000"/>
            <a:ext cx="4133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The claim shows up in a second source.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B45E62-78C4-4EBD-B0CD-4E34D73D0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340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A588F2-3001-4070-97A6-B3A10916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657850"/>
            <a:ext cx="4133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It cites where its own information came from.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FE3C82-7EBC-407E-91BC-87E5157C6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19300"/>
            <a:ext cx="4905375" cy="38100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FF7C70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5E9DC3-DA80-4385-B785-B08A5917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19300"/>
            <a:ext cx="490537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7C70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C6CBB9-8084-4B8C-88FD-7364299B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1717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CUT IT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F07644-9FA8-4F34-9552-9DBB09CA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9146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C70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C27F84-6289-438B-BE52-2A3BACE6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38450"/>
            <a:ext cx="4133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No author you can check.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CCC45F-5B25-40BA-9FA6-3228BE724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6195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C70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FBB38F-D28F-4BF6-8A68-C843F0488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543300"/>
            <a:ext cx="4133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Opinion presented as settled fact.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DBBB44-0D5A-4D52-9E8B-A55F1CB7D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3243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C70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191704-0EFB-45B3-9B92-6EB0D5EE9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248150"/>
            <a:ext cx="4133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Adjectives doing the persuading.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AC27FD-F29C-4EC6-ADBE-E03738DB1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50292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C70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722E0D-8262-4F96-9FD8-CA5DF9F30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953000"/>
            <a:ext cx="4133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The only place the claim appears.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0250CE-9D30-4F92-860C-06288DFE6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57340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C70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10C243-021E-44DC-B27C-F9B8FB21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5657850"/>
            <a:ext cx="4133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Out of date for a question that moves.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601618-761D-42F3-AF13-583492B6C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303943-9F70-4D3F-B24F-B8EC075EE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Purdue OWL, Evaluating Sources: General Guidelines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A5953C7-4529-434F-BE41-4123840F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1456365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AE0DBF-485C-4204-AF50-5D69FFB30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7D59F1-E02B-4BE8-85D1-2A43A8499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1 OF 5 · TRIAGE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4093C7-720C-48AC-A8A4-412811A59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BD8AE7-8333-4DE2-8CDD-75A495B9F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7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BD89F1-6912-4E1A-A4BA-104B21852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Throw a source out and be able to say why.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7CD8AE-4219-45BB-8620-4246C9395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FAEE98-766F-4189-9F7D-4478E1E09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4A53C2-C656-4FC5-9894-8C02FC554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Take the three sources you brought. Do not read them fully.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97D125-146D-456C-8CDA-C287E5167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55D943-D039-4551-B9FE-521F56BD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CF735C-9F51-496E-9AE1-EB79C224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Run each one against the judging card. Write keep or cut, plus the reason.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3AAD2E-1AFD-48E3-9578-0797E9973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381B40-F13B-4545-A426-28EDCF30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5DA1FE-0FE2-4185-8A09-332F35958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You must cut at least one. If all three survive, your standard is too low.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773DB0-178E-4702-BDA2-A6B6F765F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AA5128-AEF6-4EDC-8FF2-20FFED9C4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Cross-referencing is the fastest check: does the claim appear anywhere else? (Purdue OWL)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6608E2-3D7D-4F91-A219-2FA237678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C09C71-203E-4140-89C2-7178811A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3743EB-651E-4E7A-BB03-C64E53F5F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Three verdicts with reasons attached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9EFC54-CE0D-4563-A0B2-E294513AE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The cut one is the most useful thing here. You now know what bad looks like.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B52C67-37F1-4E32-8762-D23FAF162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3F9D56-0A7C-4965-9AE4-EE867D2FF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Purdue OWL, Evaluating Sources: General Guidelines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D1EDFA-922E-48B3-93DB-F850899AE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114357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ACA4ED-7F09-4799-B7E3-40252F0FB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C7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C8480A-22FE-4971-839E-18A1C29B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2 OF 5 · HUNT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FECA09-361F-4DEA-BE11-1B6FE8456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68E286-F132-4D2B-B5E3-042415CEE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12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F79C03-0A43-4876-8FD8-76A46D9A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Answer three of your five questions, with receipts.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6481EC-1C9A-455E-8D0A-04CAAF8E8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DB2BFC-141A-4C07-8367-70067EC9C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6867B2-10CB-435C-88A1-2C8F2F015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Pick three questions. Find one source that could answer each.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F06C56-F77B-4CBA-A592-6328AD0B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92DCF7-B077-4A51-8C1E-D0D6BB850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B8F0E7-3B81-4FE3-8C19-E1741DEA1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Log the link and today's date next to every one.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8C5CD3-4DA6-45CA-89A7-39E8E9C25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1ECE3E-E40E-49D9-A4BC-12F852899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790D11-7EF1-49D6-A5C4-3AB0EE295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Write the answer in your own words, in one or two sentences.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96AE20-9E34-410B-9E93-3A272DE83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889E81-4EB9-4101-A41A-2E6A8803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An answer with no link and no date does not survive to the paper. Log it now or lose it.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040437-0F00-4916-9F10-06CE2365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3C2A7F-279A-4E26-B404-9D5BCE64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42F73F-FF43-4734-9CC4-4F7D0E8F2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Three sourced findings, logged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39F3AA-B3F0-4CB0-939E-E3A458E0D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These are the first real sentences of your business paper.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49D231-B1B2-4046-8B35-C18E4255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5744C2-D5CD-4E81-B222-F775B6A4F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Investopedia, Market Research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0BA49E-4B05-4032-9FC5-44BA3D14A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4367257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A3941C-351B-4191-8E79-6B2D2BC64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A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4B60D0-C3D5-43CB-B40E-1D61BA387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3 OF 5 · COMPETITOR SWEEP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A9159C-4E44-4C04-8718-FA30349BC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F8D09E-2A18-4B7A-9F78-431CA290B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8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C4C382-ED73-4F90-AF00-E1035AC61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Name who your business could lose a customer to.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4039C1-FD61-4BDA-947D-B7467D7F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A07D71-518A-47EF-80AA-E185C5E01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B88063-9D31-4911-A0A7-45A852B1B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List two businesses your customer could choose instead.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7CC7A1-4D48-44EB-9912-60E320FB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34DA18-BD28-4423-9243-DB7225B9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7226E9-A23C-42D1-A251-7F4B4DF2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For each, write the one sentence they would say about why they are the better choice.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E1F5A0-4285-44E5-87DB-5F3E1D94D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EF3AF8-3483-430B-9085-55C3A87C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A67348-6692-499D-A655-22B0B312C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Now write the honest sentence your business would say back.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53565E-A32B-4B36-9CE0-8699615D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735D21-0E24-434D-9386-47D0AC9E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A competitive advantage is the edge that lets a company outperform rivals: cost, brand, quality, distribution, or service. (Investopedia)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18986E-C534-44B3-8376-2195441BB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D46971-6AC2-4549-8652-1682ABD2D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40D123-B8C4-4F06-B124-A48C162D6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Two competitors and three positioning sentences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66B2B7-EE9F-41E7-B9AE-A9759DFFE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This is the competitors section of your paper, already drafted.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7A2EC6-71D2-493A-BA36-521C697D6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E3E9E5-6A45-45E9-B501-5A53E9A7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Investopedia, Competitive Advantage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174802-B21E-4FE8-B8BF-0621CBF4F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0705339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C4388F-97A8-46F4-9C6C-EE72E20C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5CE7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66408-0A20-41B2-A539-A4E1E7FD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4 OF 5 · SORT 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6EB0DB-C7A3-4597-B3D5-6607718F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024303-C6AD-4FA2-A411-03A7AEF5D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7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860E18-65A7-4517-850B-884CC5C75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Put your findings in four boxes and find the empty one.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C1DF57-87EB-4486-9804-D9DEEA2C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A1C1F1-AC53-451A-8807-0DCDF7BB8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CFF4C1-B71F-407A-B16D-CC365D08F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Draw four boxes: strengths, weaknesses, opportunities, threats.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1B5F9D-09D2-4D80-B68B-A85DC1BD5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D52EF0-4363-4314-AEAC-EAF0DB5E5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78EAC9-6C1B-4FCC-9FD2-24602DF9A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Place every finding you have into the box where it belongs.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BBEA65-A679-41FE-AB7F-770EE53F0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39C0FA-3649-472D-A003-6FC3139A4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26C801-CCD7-447B-89EE-B422E63B5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Name the emptiest box out loud. That is your next research question.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949294-E380-4E8B-9380-5EC111531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B88605-6B2E-49D5-904D-C199A381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Strengths and weaknesses are internal to the business. Opportunities and threats are external. (Investopedia)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515E56-E3B9-4A8B-A24D-4D5922C35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29B405-1492-4C61-8A47-32C9A7B93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263812-7C40-488E-B267-C1F0A6FD8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filled SWOT with one named gap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F22D1A-943D-498C-A9AF-7F3AA3B6C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The gap is worth more than the full boxes. It tells you where to look next.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A324C0-E1B8-4108-B523-26D80EED4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F4C9C1-6099-4F95-B9A4-78514ABCE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Investopedia, SWOT Analysis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2E212C-D4D5-4869-8CD8-5F18FD190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993042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B96777-24A7-438D-B023-E73691D4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93569D-C405-44DB-BEB5-3779D5CD7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5 OF 5 · GO GET PRIMARY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FCF4B4-CC0F-4BA7-9AC7-A0FB275D0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3FC0CD-6BAF-4DD3-847B-2CC0EE160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8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8DBF08-8EF8-4666-901B-E8565B724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Write three questions you will actually send or ask.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57FF61-C6D9-4D50-8C3A-617881E14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4D9C88-A978-4B85-8B7F-BEA2B308B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B709F6-B749-43D8-8DF2-F90FFA3A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Aim them at your emptiest SWOT box.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B49BF5-68C9-43B8-9C2A-A0CC0F695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5F1591-4F96-42E3-82B0-8495B26A1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BBA7A3-AD19-4274-A325-4F5377CBF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No yes-or-no questions and no questions a website already answers.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CEFA84-8F05-491C-ADFD-0925BE45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408FAB-3DA2-4F13-A09F-EFF875438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2FE056-BB4B-4208-B292-C19CBC653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Decide now: email, visit, or observe. Write which, and when.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0558FF-C0CC-4E5C-9578-B36D54E61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B9719B-4305-411F-834F-4E95E4F5F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Primary data is what you gather directly. It is the part of your paper nobody else can copy. (Investopedia)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20C7B0-7090-4911-9393-B7CC83643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5C7445-6CA5-4681-B352-2F31840B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A6446C-04EF-4D1D-8F88-49BAA59D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Three questions and a plan to ask them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F2782E-E872-4655-A1B5-2CE8F0BDD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Send them before Meeting 4. An owner's sentence outranks any article.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04E021-72AA-4340-B63B-B78BCFDFB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E5A62F-0DAF-4E2C-A575-140CE6798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Investopedia, Market Research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33F344-3CD2-4190-8302-4EB17E90D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427263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245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3AFC59-337F-4306-8D5D-C938341B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THE BUILD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E17696-9C67-4FD1-AFC7-B17685459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Write up your findings so a stranger could check them.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98977B-E63D-4E66-9B92-AA95F8C18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91440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1B6725-6AA7-447C-8E85-49FC804C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02870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10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79F074-E132-4819-8389-9E15062E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E6C592-A48F-4285-9827-8084C13DC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981200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One line per finding, in your own words.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B9132F-B26D-446E-986E-3A6528F69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6702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0337AF-670C-4EB8-8013-41947738E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847975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Link and date under each one.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405277-E7F0-4CFC-8928-391BF838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3380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372956-449D-4F92-A1FA-619FF48EF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14750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Mark which are primary and which are secondary.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8358BD-7D77-4DE9-9E5E-1EADA8D0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00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4BC68E-2364-460D-A1B3-B8E4BE8D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81525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List the questions still open at the bottom.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063B21-F558-4C19-A331-C192BB907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33575"/>
            <a:ext cx="2190750" cy="34290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6E9FED-00A4-4664-B458-9EC8BF569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238375"/>
            <a:ext cx="171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DELIVERABLE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D1518D-F38E-4D89-8B52-87500E18F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819400"/>
            <a:ext cx="1714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A sourced</a:t>
            </a:r>
          </a:p>
          <a:p xmlns:a="http://schemas.openxmlformats.org/drawingml/2006/main">
            <a:pPr algn="ctr">
              <a:def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findings</a:t>
            </a:r>
          </a:p>
          <a:p xmlns:a="http://schemas.openxmlformats.org/drawingml/2006/main">
            <a:pPr algn="ctr">
              <a:def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log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16DB10-199C-4C33-B3BC-B6529345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457700"/>
            <a:ext cx="1714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This is what you write the paper from next meeting.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C45DCE-B6BB-43E9-9ED9-285B24B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7E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53552C-D535-4A10-8450-73704023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Career Canvas Meeting 3 build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0F9E99-017B-4725-A668-BDE35C16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12911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20237E-97E0-43CC-9CE0-972AA5467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BEFORE YOU LEAVE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1BE840-F3D4-49BE-8D93-BFBC88821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Name the source you threw out and the finding that surprised you.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240D6B-F7C0-4984-A333-5FA011BB1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9530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990A5F-809F-4BB7-ABA8-20944EB7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EXIT TICKET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AF1EC4-82DD-4E30-A493-0669C68B3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Which finding surprised you?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7AED14-216F-4866-BAA8-D73F48360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004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Which source did you cut, and why?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A0152F-8F9A-4EAD-8D84-12042DBC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4340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What is still unanswered?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DD0BFB-891D-44FE-B5CF-695366F4F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00250"/>
            <a:ext cx="4905375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C46C8D-9832-47D8-BE76-248940A7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81250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NEXT MEETING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05FEC9-E071-47A9-87A4-62EBA69BC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575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Write the business spotlight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658B43-1E3A-413F-B1EB-6044B5E46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76650"/>
            <a:ext cx="3905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Turn the findings log into a one-page paper with one claim, real evidence, and your own analysis.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CE2BB0-6276-435C-9084-651952ADB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5DEB5C-4254-464F-88BA-A44044C4C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Career Canvas Meeting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1CC456-79BF-4E43-86FB-BA3F8E554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7507536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EF7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1B064D-5C4F-4251-9605-92D925DA2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SOURCE LIBRARY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9398C8-7383-473C-A915-45F950557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Research used in this meeting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FF4238-B889-4BC6-8375-B44FD5009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All links were accessed September 21, 2026.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D453E2-1645-4662-8272-948740376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C44DD9-8295-4194-B607-F1AAA768D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Market Research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1B0F43-D587-4B44-8532-06FD104C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investopedia.com/terms/m/market-research.asp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F3E978-3D2D-4FA3-825A-969F80CAC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Purdue OWL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EFA87E-2C91-4F75-A563-2C74A781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242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Evaluating Sources: General Guidelines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B38324-9733-4B82-A73E-260281001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owl.purdue.edu/owl/research_and_citation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FA6D29-638E-4974-B37E-9F0DAC4D9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AFF4EC-1B98-45A4-AEED-7CAA0D24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957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Competitive Advantage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51EE56-318A-4906-A7D2-93B500BA1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investopedia.com/terms/c/competitive_advantage.asp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2B2EEC-596A-45F7-8EAD-7C37A6713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955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3FF412-822C-489D-9C1D-8DA9D9C10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526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SWOT Analysis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D4AC09-FD76-4211-AE61-5CD912A4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6670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investopedia.com/terms/s/swot.asp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4557EA-9E1B-42C7-BA73-5248F1FF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67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B82F0C-3901-41DC-BFA6-0754F71EF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3242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Business Model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11D2EA-0D3E-43BB-A280-1C1430422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investopedia.com/terms/b/businessmodel.asp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17F8E5-28BF-4582-8D77-EA38A0F5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05016D-5230-462F-BF16-8ECC00DFA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957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Business Plan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F364B4-2618-41DE-869E-412F44E4D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101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investopedia.com/terms/b/business-plan.asp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544BF2-C53C-452E-B0CD-A2BB811C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70F635-1998-4394-B088-BFAF12833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Full URLs are also stored in the speaker notes of the slides that use them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D4D5B4-698D-46E1-9B4C-CB7BEF6B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7015507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2026-09-21T17:14:27.1400000Z</dcterms:created>
  <dcterms:modified xsi:type="dcterms:W3CDTF">2026-09-21T17:14:27.1400000Z</dcterms:modified>
</coreProperties>
</file>