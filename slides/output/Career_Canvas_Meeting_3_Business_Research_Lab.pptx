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d3bc282f3a48fc" /><Relationship Type="http://schemas.openxmlformats.org/officeDocument/2006/relationships/extended-properties" Target="/docProps/app.xml" Id="R3e43eb8545224b99" /><Relationship Type="http://schemas.openxmlformats.org/officeDocument/2006/relationships/officeDocument" Target="/ppt/presentation.xml" Id="R44a3766a1ebc49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128c5a8ef641b5"/>
  </p:sldMasterIdLst>
  <p:notesMasterIdLst>
    <p:notesMasterId xmlns:r="http://schemas.openxmlformats.org/officeDocument/2006/relationships" r:id="R31b07e40dc3f43f2"/>
  </p:notesMasterIdLst>
  <p:sldIdLst>
    <p:sldId xmlns:r="http://schemas.openxmlformats.org/officeDocument/2006/relationships" id="256" r:id="Rb90b30f2f0c946a4"/>
    <p:sldId xmlns:r="http://schemas.openxmlformats.org/officeDocument/2006/relationships" id="257" r:id="Red1e2a6408eb498d"/>
    <p:sldId xmlns:r="http://schemas.openxmlformats.org/officeDocument/2006/relationships" id="258" r:id="Ra3a8ff9b19af4db8"/>
    <p:sldId xmlns:r="http://schemas.openxmlformats.org/officeDocument/2006/relationships" id="259" r:id="Rc0c6ae4f99d24d3c"/>
    <p:sldId xmlns:r="http://schemas.openxmlformats.org/officeDocument/2006/relationships" id="260" r:id="Rce36d9e1e57443d6"/>
    <p:sldId xmlns:r="http://schemas.openxmlformats.org/officeDocument/2006/relationships" id="261" r:id="Rc3e6227df3154ee4"/>
    <p:sldId xmlns:r="http://schemas.openxmlformats.org/officeDocument/2006/relationships" id="262" r:id="R4409200b9e5944a7"/>
    <p:sldId xmlns:r="http://schemas.openxmlformats.org/officeDocument/2006/relationships" id="263" r:id="Rd3589cf003b74cb4"/>
    <p:sldId xmlns:r="http://schemas.openxmlformats.org/officeDocument/2006/relationships" id="264" r:id="R78a208fe4a104851"/>
    <p:sldId xmlns:r="http://schemas.openxmlformats.org/officeDocument/2006/relationships" id="265" r:id="R90ffa63e7b94481f"/>
    <p:sldId xmlns:r="http://schemas.openxmlformats.org/officeDocument/2006/relationships" id="266" r:id="Ree8747a9bb774a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841041af43493e" /><Relationship Type="http://schemas.openxmlformats.org/officeDocument/2006/relationships/slideMaster" Target="/ppt/slideMasters/slideMaster1.xml" Id="R7b128c5a8ef641b5" /><Relationship Type="http://schemas.openxmlformats.org/officeDocument/2006/relationships/notesMaster" Target="/ppt/notesMasters/notesMaster1.xml" Id="R31b07e40dc3f43f2" /><Relationship Type="http://schemas.openxmlformats.org/officeDocument/2006/relationships/presProps" Target="/ppt/presProps.xml" Id="R1c1ff86b55e3471d" /><Relationship Type="http://schemas.openxmlformats.org/officeDocument/2006/relationships/tableStyles" Target="/ppt/tableStyles.xml" Id="R085363b84cba4201" /><Relationship Type="http://schemas.openxmlformats.org/officeDocument/2006/relationships/slide" Target="/ppt/slides/slide1.xml" Id="Rb90b30f2f0c946a4" /><Relationship Type="http://schemas.openxmlformats.org/officeDocument/2006/relationships/slide" Target="/ppt/slides/slide2.xml" Id="Red1e2a6408eb498d" /><Relationship Type="http://schemas.openxmlformats.org/officeDocument/2006/relationships/slide" Target="/ppt/slides/slide3.xml" Id="Ra3a8ff9b19af4db8" /><Relationship Type="http://schemas.openxmlformats.org/officeDocument/2006/relationships/slide" Target="/ppt/slides/slide4.xml" Id="Rc0c6ae4f99d24d3c" /><Relationship Type="http://schemas.openxmlformats.org/officeDocument/2006/relationships/slide" Target="/ppt/slides/slide5.xml" Id="Rce36d9e1e57443d6" /><Relationship Type="http://schemas.openxmlformats.org/officeDocument/2006/relationships/slide" Target="/ppt/slides/slide6.xml" Id="Rc3e6227df3154ee4" /><Relationship Type="http://schemas.openxmlformats.org/officeDocument/2006/relationships/slide" Target="/ppt/slides/slide7.xml" Id="R4409200b9e5944a7" /><Relationship Type="http://schemas.openxmlformats.org/officeDocument/2006/relationships/slide" Target="/ppt/slides/slide8.xml" Id="Rd3589cf003b74cb4" /><Relationship Type="http://schemas.openxmlformats.org/officeDocument/2006/relationships/slide" Target="/ppt/slides/slide9.xml" Id="R78a208fe4a104851" /><Relationship Type="http://schemas.openxmlformats.org/officeDocument/2006/relationships/slide" Target="/ppt/slides/slide10.xml" Id="R90ffa63e7b94481f" /><Relationship Type="http://schemas.openxmlformats.org/officeDocument/2006/relationships/slide" Target="/ppt/slides/slide11.xml" Id="Ree8747a9bb774a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049b306c144c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10762256124a61" /><Relationship Type="http://schemas.openxmlformats.org/officeDocument/2006/relationships/notesMaster" Target="/ppt/notesMasters/notesMaster1.xml" Id="R1fdeb2db21da4a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f5dece5b8b46f3" /><Relationship Type="http://schemas.openxmlformats.org/officeDocument/2006/relationships/notesMaster" Target="/ppt/notesMasters/notesMaster1.xml" Id="Rb89f0853414049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9d16772a434d04" /><Relationship Type="http://schemas.openxmlformats.org/officeDocument/2006/relationships/notesMaster" Target="/ppt/notesMasters/notesMaster1.xml" Id="R418c5e89a32c47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786b330f60411c" /><Relationship Type="http://schemas.openxmlformats.org/officeDocument/2006/relationships/notesMaster" Target="/ppt/notesMasters/notesMaster1.xml" Id="R26a87e0f797140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30169f62414177" /><Relationship Type="http://schemas.openxmlformats.org/officeDocument/2006/relationships/notesMaster" Target="/ppt/notesMasters/notesMaster1.xml" Id="R1f4fe717f07440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d3af75f3f94136" /><Relationship Type="http://schemas.openxmlformats.org/officeDocument/2006/relationships/notesMaster" Target="/ppt/notesMasters/notesMaster1.xml" Id="Recd016451ae94c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ec086735914d63" /><Relationship Type="http://schemas.openxmlformats.org/officeDocument/2006/relationships/notesMaster" Target="/ppt/notesMasters/notesMaster1.xml" Id="Rb5970f2cd05c46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edb6659acc45e2" /><Relationship Type="http://schemas.openxmlformats.org/officeDocument/2006/relationships/notesMaster" Target="/ppt/notesMasters/notesMaster1.xml" Id="R954213a0202245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6a7e28d73c43c7" /><Relationship Type="http://schemas.openxmlformats.org/officeDocument/2006/relationships/notesMaster" Target="/ppt/notesMasters/notesMaster1.xml" Id="Re475c4740b164d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c0794927d54799" /><Relationship Type="http://schemas.openxmlformats.org/officeDocument/2006/relationships/notesMaster" Target="/ppt/notesMasters/notesMaster1.xml" Id="R2d2767fb51614e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6e68da099b4696" /><Relationship Type="http://schemas.openxmlformats.org/officeDocument/2006/relationships/notesMaster" Target="/ppt/notesMasters/notesMaster1.xml" Id="R28fc2f017f234f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reading a confident claim about a local business with nothing behind it. Ask how we would check. Then start Round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minutes. Market research gathers and analyzes data about consumers, competitors, and market trends using surveys, interviews, focus groups, and product testing.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https://www.investopedia.com/terms/m/market-research.asp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Purdue OWL's criteria: author expertise, intended audience, fact versus opinion versus propaganda, objective language, sufficient evidence, cross-referencing, timeliness, and a reference list. Print this slide as a handout if you can.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5 minutes working, 2 minutes of cut sources read aloud. Students who brought nothing pair with someone who did.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Facilitation: circulate and ask students to read you the source, not the finding. If they cannot say where it came from, the round is not done for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https://www.investopedia.com/terms/m/market-research.asp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Investopedia names two types: comparative advantage, producing the same thing more cheaply, and differential advantage, offering something hard to copy. Push students to say which one their business 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https://www.investopedia.com/terms/c/competitive_advantage.asp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Investopedia stresses SWOT works when people supply realistic data points rather than prescribed messaging. An empty threats box usually means the student is being polite, not thorough.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https://www.investopedia.com/terms/s/swot.asp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when concrete. A question with no date attached does not get asked.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https://www.investopedia.com/terms/m/market-research.asp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who arrive at Meeting 4 without this cannot draft. Say that now, not next week.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Assignment: finish all five questions with sources logged, and send the primary-data questions from Round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if students or reviewers want the research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https://www.investopedia.com/terms/m/market-research.asp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  <a:p xmlns:a="http://schemas.openxmlformats.org/drawingml/2006/main">
            <a:r>
              <a:t>- https://www.investopedia.com/terms/c/competitive_advantage.asp</a:t>
            </a:r>
          </a:p>
          <a:p xmlns:a="http://schemas.openxmlformats.org/drawingml/2006/main">
            <a:r>
              <a:t>- https://www.investopedia.com/terms/s/swot.asp</a:t>
            </a:r>
          </a:p>
          <a:p xmlns:a="http://schemas.openxmlformats.org/drawingml/2006/main">
            <a:r>
              <a:t>- https://www.investopedia.com/terms/b/businessmodel.asp</a:t>
            </a:r>
          </a:p>
          <a:p xmlns:a="http://schemas.openxmlformats.org/drawingml/2006/main">
            <a:r>
              <a:t>- https://www.investopedia.com/terms/b/business-plan.asp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56b33871a42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beba09e48c40e5" /><Relationship Type="http://schemas.openxmlformats.org/officeDocument/2006/relationships/slideLayout" Target="/ppt/slideLayouts/slideLayout1.xml" Id="R04aa9c1172654a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a9c1172654a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df3d47ea74853" /><Relationship Type="http://schemas.openxmlformats.org/officeDocument/2006/relationships/notesSlide" Target="/ppt/notesSlides/notesSlide1.xml" Id="R6d01aa46c1f047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dd50ae7654698" /><Relationship Type="http://schemas.openxmlformats.org/officeDocument/2006/relationships/notesSlide" Target="/ppt/notesSlides/notesSlide2.xml" Id="R99fedd9dfdb047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4c93429c047fa" /><Relationship Type="http://schemas.openxmlformats.org/officeDocument/2006/relationships/notesSlide" Target="/ppt/notesSlides/notesSlide3.xml" Id="Rc825783e2db543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699677ff24f31" /><Relationship Type="http://schemas.openxmlformats.org/officeDocument/2006/relationships/notesSlide" Target="/ppt/notesSlides/notesSlide4.xml" Id="Rfb80f4b89dda42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4580d25c94537" /><Relationship Type="http://schemas.openxmlformats.org/officeDocument/2006/relationships/notesSlide" Target="/ppt/notesSlides/notesSlide5.xml" Id="R9e7cdeac42624f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8f30d46fc463e" /><Relationship Type="http://schemas.openxmlformats.org/officeDocument/2006/relationships/notesSlide" Target="/ppt/notesSlides/notesSlide6.xml" Id="R34da34e8c3684e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0adfad8194842" /><Relationship Type="http://schemas.openxmlformats.org/officeDocument/2006/relationships/notesSlide" Target="/ppt/notesSlides/notesSlide7.xml" Id="Rf9c631037a644f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6d88643bb4730" /><Relationship Type="http://schemas.openxmlformats.org/officeDocument/2006/relationships/notesSlide" Target="/ppt/notesSlides/notesSlide8.xml" Id="Ra39735f418b04a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cd2e5a4a547f2" /><Relationship Type="http://schemas.openxmlformats.org/officeDocument/2006/relationships/notesSlide" Target="/ppt/notesSlides/notesSlide9.xml" Id="R1e9735263f3840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c15976ef9412e" /><Relationship Type="http://schemas.openxmlformats.org/officeDocument/2006/relationships/notesSlide" Target="/ppt/notesSlides/notesSlide10.xml" Id="R6ce323e029b04c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5f84b05ba4888" /><Relationship Type="http://schemas.openxmlformats.org/officeDocument/2006/relationships/notesSlide" Target="/ppt/notesSlides/notesSlide11.xml" Id="R995a649c0c5544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854C2-8E95-4BA2-A414-34EB4913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FEAC7-69F2-4319-93CD-9577EEEC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33500"/>
            <a:ext cx="4381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6E364-71B0-466F-B5F6-6F0D557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MEETING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DE340-BB50-4F0C-84ED-25DA7C09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57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82AC4-5A35-4515-8B9D-5DA94F22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36576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research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E5C3A-8287-4C1A-9FE1-8269D56C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D2C31-AAC9-47BD-9E89-7B68E640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85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EC6BA-7F7E-499D-96CF-D1CE0EA6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  <a:p xmlns:a="http://schemas.openxmlformats.org/drawingml/2006/main">
            <a:pPr algn="l">
              <a:def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research lab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4D3DB-4688-480F-823D-E2BDEB0D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Five rounds of hunting, judging, and throwing sources 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8E147-B68F-4B8D-B322-7BDAEAD7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Meeting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D3A3E-831E-484D-ABFE-6C721951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Designed by Jada Lin and Olivia Zheng</a:t>
            </a:r>
          </a:p>
          <a:p xmlns:a="http://schemas.openxmlformats.org/drawingml/2006/main">
            <a:pPr algn="l">
              <a:def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</p:spTree>
    <p:extLst>
      <p:ext uri="{BB962C8B-B14F-4D97-AF65-F5344CB8AC3E}">
        <p14:creationId xmlns:p14="http://schemas.microsoft.com/office/powerpoint/2010/main" val="576476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22873-8087-471D-AD5B-4E993463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THE ONLY THING WE TEACH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14526-FFE6-401B-B239-7A799DE1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Two kinds of data, and you need both.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6338D-6AC2-4CA2-BD1D-C9B93A6B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AEBA1-CDBA-4245-9BFC-2466190C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Primary data is what you collect yourself. Secondary data already exists somewhere else.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FE48E-7AD1-4177-945F-E621B50F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85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CE745-DCE4-4C9B-8FAB-386A55F1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Your interview answer from last meeting is primary. Everything you find today is secondary. Today you get both on paper.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20714-AAA6-408C-957F-8407B970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FA5FD-63C0-40EA-9D84-CD5B0FFC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Source: Investopedia, Market 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7AF2D-6EA9-4699-B947-10D5D96E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276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63FA53-B892-440F-90BB-C97CBA4E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YOUR JUDGING 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DD6AF-0DC4-4FEE-A2F8-1E1A729D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Keep this in front of you all meeting.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CEBF9-6B8A-4DBF-B371-F6212B6F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You will run every source you find today against these two columns. It is the tool, not a lecture.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64838-2FFF-479E-998F-02CD1193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05375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DBE48-A7D9-4492-8ED1-C47C1146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05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92A98-F048-41B9-8CA6-C522881E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DD36D-A1D2-4897-8C50-AAB75113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B0E4F-44A1-4512-A533-71BB133E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 named author with relevant expertise.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98884-3599-4FE3-966F-6F70E0E7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28C90-093E-4705-86B8-C527D1F2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Facts separated from opinion.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EF987-DC1A-442B-B15D-F6D7C4C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6F95E-2C58-4314-AE71-A5B90F52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Objective language, not loaded language.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EC5AC-8625-425E-B15F-6C9B89F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F7397-F6BD-424E-9E1D-487017DB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 claim shows up in a second source.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BCA85-A393-48FC-9FDB-AAC82E51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54368-C9D5-450F-8607-D6CBC540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578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It cites where its own information came from.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4B344-BEA6-4388-BFF2-AEB94D50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19300"/>
            <a:ext cx="4905375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6C0B0-62E0-45F8-9043-AAC27B3E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19300"/>
            <a:ext cx="4905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4BEC1-910C-459A-8013-52A23F9C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71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CUT 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4F29C-AB96-4ED2-93CE-65EB9E74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914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161CA-955A-455F-9D90-3035A0E2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384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No author you can check.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ACDB7-0CF8-469A-AC3F-BBF94283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00A10B-E1F7-403C-848C-3636667E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433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Opinion presented as settled fact.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CDED2-1AA4-4C49-A7D3-454CC865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10F93-6283-4EE6-9B8D-94EA1ECC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2481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Adjectives doing the persuading.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32E9B7-579C-49ED-B947-519EEB64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29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8C6C05-D61F-454A-B742-AF23BB8C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9530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 only place the claim appears.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A0C71A-F67E-454E-8858-B33157DF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734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3BAB99-D1D4-4D94-942B-866D8DBA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6578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Out of date for a question that moves.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FB94B0-8DD7-46F9-8154-FF358C89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7141CC-8D6B-464E-B8F8-3D26D139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230530-6F21-4AB5-B635-ADB1885C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9495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D0D6D-2CE2-448F-882A-071E52F1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4C649-3320-4406-8F38-D343F345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1 OF 5 ·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48654-8A77-4C9F-9568-DA5B17AD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683EF-5EE1-430F-A667-1B837261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C508F-B089-421D-BF18-59D88640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Throw a source out and be able to say why.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670CF-3559-44EE-81DB-30E4CED0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A7BF8-DE34-49DE-8ACE-EA982524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123AF-B4B7-482F-9192-C5FF3F2B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Take the three sources you brought. Do not read them fully.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F8007-6319-4E12-A34C-004AC73D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EB047-D835-41DC-A78E-8E7E6416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7917E-70C4-4A47-BB66-07BDA149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Run each one against the judging card. Write keep or cut, plus the reason.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559EF-5A65-471F-93CA-235F2BFF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D250F-1C42-4194-B28A-77E01692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0338D-B338-4E74-8184-D69C4C1A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You must cut at least one. If all three survive, your standard is too low.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67AA2-9474-4378-96D7-14C8741B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30A6E-F6C9-4E5F-8F2B-E5765498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Cross-referencing is the fastest check: does the claim appear anywhere else? (Purdue OWL)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828B8-6338-4046-B700-447D5647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E80B8-E1C3-414E-867B-5B1B49F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244EC-4325-48C2-BD4D-68167E93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Three verdicts with reasons attached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C6855-1BB8-4BBB-9576-B1FE69E2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The cut one is the most useful thing here. You now know what bad looks like.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651E0-C5A8-40E5-8BEB-6072B7AB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86336-28A2-4B1E-95E6-5454B4CF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62CE9-09AC-464A-8A12-154EBD65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6354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B3036-26A4-47C0-8536-63A7D836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DB3FB-2680-45E1-99BF-1143D1BC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2 OF 5 · HUNT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18573-F4F4-48EA-B193-05BC7E5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EC427-FD59-4334-9797-5CB8EB19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12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D799C-F031-40C6-8A95-F04142BA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Answer three of your five questions, with receipts.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981DE-475D-43FD-9673-39AA3A12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81F89-1683-4326-9640-AC31A3FB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B9CDD-4418-4D80-ABC6-9F351219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Pick three questions. Find one source that could answer 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CF122-BCD7-4510-AF96-E507ED7B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85140-A6D1-4A3D-9D39-3D110998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D7AF1-D39D-4FFE-9A00-FF3CE84E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Log the link and today's date next to every 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D2566-9AF5-440E-B926-F5B229B4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EDC28-9C74-468F-94DA-EA90DB68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8329C-D874-4403-97F0-24581C99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the answer in your own words, in one or two sentences.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19E91-127B-4CFA-BDE2-49932FEB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290F1-942D-4F99-85DE-47B765F7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An answer with no link and no date does not survive to the paper. Log it now or lose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9C95F-60DF-4982-BE00-BD448075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23D7A-52A2-4890-94DD-AC94F2FD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A4C1EC-9C6C-45A4-82FD-93CED37A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Three sourced findings, logged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C7EE2-38A3-4045-92CF-A960A92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These are the first real sentences of your business paper.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F8709-918E-43E4-A7B3-477EB6D0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A8047-B872-4692-AC23-A4B61857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Market Research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9C3C4-3A45-47EB-9A5D-16A163CD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18867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DD6BA-D377-43D1-B82B-62F97A81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7D6E0-8BDA-489E-BE29-7B6A2C47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3 OF 5 · COMPETITOR SWEEP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3C79A-76AD-439D-9F50-DB1F2B3C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7C046-1835-4E51-A9B0-0D252B46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8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51827-622F-4C3B-8016-57245833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Name who your business could lose a customer 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87655-F3AF-40EE-AA0F-ACF3E1FF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9A6E2-2989-4F3F-BE88-480D9693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21F7B-4653-45F4-9324-0A38BB82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List two businesses your customer could choose instead.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FC2B1-2CD6-41A5-BA1C-AED3602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F97D3-7AB2-4012-8D0C-FC6C7B6A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4C41E-C8EA-4FB4-A398-B4ADDC5B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For each, write the one sentence they would say about why they are the better choice.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6189C-E322-40F5-860E-9B9DDFE4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82582-0AC1-4E7B-A229-7B50C519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D6157-6C45-48C4-8A24-53CD5756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Now write the honest sentence your business would say 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4BEC1-D4D8-4E68-8911-144F0F4E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0DB08-FAC3-4CE3-9224-D54F6669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competitive advantage is the edge that lets a company outperform rivals: cost, brand, quality, distribution, or service. (Investopedia)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A7046-367E-48EA-94D1-7F35EC3C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94B76-CC35-4E25-81A3-878BD84D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D6D57-08BA-4E76-AF07-3829AACD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Two competitors and three positioning sentences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1284C-DE92-4B33-82B3-6D625106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This is the competitors section of your paper, already drafted.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A6A3B-C9A4-4427-A976-560C064B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F1667-1238-4925-B019-D92C4231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Competitive Advantage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25615-97F7-4840-92BE-8636147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8601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F6A39-37AD-4F01-8FB2-D2651DC2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82D66-E551-4ECA-A642-5BB70C37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4 OF 5 · SORT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7672B-F42B-4911-8354-CD53BE81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B018C-F359-4F73-BFAF-BB60FB68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1967E-263D-4F38-9BDD-1B9ABC12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Put your findings in four boxes and find the empty 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95354-EF97-4766-BAA9-A02AE41F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91E91-2218-427A-9570-394AAE24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C886B-0649-4E69-8EE8-B4A8B8B3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Draw four boxes: strengths, weaknesses, opportunities, threats.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61FDD-AAAA-4B3D-B27A-E1C626F0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A6486-1512-4208-BFB6-01283D8E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CA437-9477-4B6E-BAE0-50273A39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Place every finding you have into the box where it belongs.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373E2-85AB-430A-907A-50FFDE8C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6A747-77EE-4AC9-B7CB-0C4D6E13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6007A-054B-4D57-85CA-CD480BC2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Name the emptiest box out loud. That is your next research question.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6AF9C-1E0D-492B-8CA8-3C95849D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30532-61D1-49D8-9463-702F9E1F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Strengths and weaknesses are internal to the business. Opportunities and threats are external. (Investopedia)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DF56C-E522-46AA-9B6B-8BB61119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F1EE4-D832-4FB7-8813-B2EFDF0B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4A906-B13C-4270-9F91-78F0141D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filled SWOT with one named gap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19200-C1BD-48ED-89D5-7D424595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The gap is worth more than the full boxes. It tells you where to look next.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4EC95-D02A-424F-843D-14AB14C2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5C7A0-1DA8-4357-95C2-3763E12C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SWOT Analysis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4199C2-0771-4ECF-BD3E-C3AB967C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8520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19D9EB-4C6B-461F-9A7E-7897D76A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76665-5D36-4AB5-9220-023F0F5B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5 OF 5 · GO GET PRIMARY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F7BD2-BB6E-4F4E-AF48-0FCB4C12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B80A5-D7B8-4B0F-9999-3D455A0C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8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3EB3C-BC9B-4E63-B374-9634D34A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three questions you will actually send or ask.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200DA-C8B3-4FBE-95BD-7C6EB195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6BFF5-3F5C-4C68-957C-A85B76AE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165D4-1B7D-49FC-B0CD-07417C36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Aim them at your emptiest SWOT box.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36444-67B5-4C20-A7C4-853C0C4F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E14C5-8608-45FB-96FE-91EDAE0D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4B72C-B527-4CEC-8A9C-741D40EA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No yes-or-no questions and no questions a website already answers.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DBF07-4B61-451A-911D-83377394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FE4B1-E2E2-44DE-B813-B40A54C6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2E68B-49F8-49AC-AF41-D7364A5E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Decide now: email, visit, or observe. Write which, and when.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C316F-628B-4724-B6C6-CCA4DA19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EE0B7-40EF-48A5-A6BC-B3545C9F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Primary data is what you gather directly. It is the part of your paper nobody else can copy. (Investopedia)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37919-9530-46D8-A993-E83DD0DB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8099A-54C6-442E-A030-9C1E6E99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28DC1-91F6-4B5B-AE78-06F34345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Three questions and a plan to ask them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30CF4-3C89-4316-966A-CB7848BC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Send them before Meeting 4. An owner's sentence outranks any article.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71B22-A364-4C19-9617-22703477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8FABE-D4C7-48EF-A2D7-90CBF17A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Market Research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F9B684-B76C-4D1A-9B13-1F0E4B8C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4067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C2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489E39-48B5-4768-89D0-CF3E6D2C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THE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86345-4E07-4E4E-BA98-D61505A2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Write up your findings so a stranger could check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276C5-306E-4163-BAFD-36C1E995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1440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E9443-865A-44CD-98FC-436C0B4F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287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10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9BB93-8A60-4BB4-AB32-9EDC824D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5CB9F-0B26-4A8A-94BD-D879A76E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line per finding, in your own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23D63-63FD-487C-AF83-44E39A61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15904-A34F-48FE-9570-B0C397F5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479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Link and date under each 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49CEE-584A-4BC0-9969-8517A4D5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8B10A-6CC4-4258-AAB2-4DF675E9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Mark which are primary and which are secondary.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DCEB2-0AD7-4896-97E4-7A7032FE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BA4D9-1297-491E-941A-D3F4EC7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List the questions still open at the bottom.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1E060-572E-4B39-BAA8-20B306A5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33575"/>
            <a:ext cx="2190750" cy="34290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D49B4-83F5-438C-B309-74B0A1FC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9BE14-CC56-4F26-8937-89FF3EAB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1714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 sourced</a:t>
            </a:r>
          </a:p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findings</a:t>
            </a:r>
          </a:p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FD2B9-9767-4D53-BC16-A608E73C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577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This is what you write the paper from next meeting.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DCA44-06C9-47E7-ABF7-37E031F9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41AF4-487B-4EB2-95BC-426B356B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Canvas Meeting 3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F38D2-A48B-4B17-B9AC-64F8F12F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37013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7821E-0308-4DEB-BF74-C18481EE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BEFORE YOU LEAVE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E9725-D476-41EB-BE66-E153CD10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Name the source you threw out and the finding that surprised you.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85644-E212-4E20-975F-3D35CB7E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3054E-BF06-4898-81A7-C4351926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5F8B7-7BAE-4B3B-8B5C-87F43415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Which finding surprised you?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C7441-659F-4F73-A11A-84A5BB6F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Which source did you cut, and why?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7C5F0-1331-49A6-8241-1EC9A86B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is still unanswered?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C6777-AED9-431E-8FBA-0EADE9A2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9053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A0A1F-0CD8-4299-9713-586F473C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55751-27A1-4A7F-8D44-600764FA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the business spotlight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6974B-CDD1-47F9-B812-841DF77C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Turn the findings log into a one-page paper with one claim, real evidence, and your own analysis.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890EC-5F11-48E0-BF9D-E70C7728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E1FCA-0D5D-4CC8-902A-21D1BC04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Meeting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65C21-1747-41BF-88D1-9AF7CEFB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4325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1CF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258F8-3C33-4EA1-9590-5FB6A3C4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CA68E-0E1F-4A54-A96E-B767B223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Research used in this meeting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0AB7F-C319-4FA8-BCD8-BC21DAD5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All links were accessed September 21,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CE4CA-D19F-4CBE-9D1E-16C85E13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48267-D51C-418B-81C7-22E7DF44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Market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F35D2-A9A8-4061-8261-28C18FB2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investopedia.com/terms/m/market-research.asp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E0EC1-205C-4711-A779-9BBFCFA4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Purdue OWL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89D5C-7E65-471A-A287-AA983642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Evaluating Sources: General Guidelines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64DB5-CB15-477F-9F31-E7554A7E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owl.purdue.edu/owl/research_and_citation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4FC5C-0413-4B4F-A65F-FBD5AF4C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E76FF-CCEB-4C36-8591-DAB74889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Competitive Advantage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48041-69DB-4AA1-8CC9-D8A0B560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investopedia.com/terms/c/competitive_advantage.asp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11A78-CA42-444E-B5D6-DE03DEB8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1B150-AFC7-4882-A256-3C86D6B0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SWOT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E04FD-6F0D-4683-BD4E-95BE68E3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investopedia.com/terms/s/swot.asp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9690E-7110-45CB-A42E-EF9980E0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A1AFC-7E6D-4696-8872-754BAE36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7253F-0C1F-4570-BC90-0516E85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investopedia.com/terms/b/businessmodel.asp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96BAE-DF61-4652-92AE-1F9074A6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386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C9519-C76A-48B5-B7B2-7C33959C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957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Business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D9307-3B6E-4D28-A9B6-09F90F99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0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investopedia.com/terms/b/business-plan.asp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8E897-EEF8-44D8-9C26-7AB4AE70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9B9E4-6D36-481B-9D1E-F8596DA7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Full URLs are also stored in the speaker notes of the slides that use them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D1A138-9D27-46CD-8917-98F0DD31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43953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2026-09-21T19:22:44.0110000Z</dcterms:created>
  <dcterms:modified xsi:type="dcterms:W3CDTF">2026-09-21T19:22:44.0110000Z</dcterms:modified>
</coreProperties>
</file>