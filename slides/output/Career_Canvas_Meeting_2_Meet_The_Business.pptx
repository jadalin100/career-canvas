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44d73a304b94fe0" /><Relationship Type="http://schemas.openxmlformats.org/officeDocument/2006/relationships/extended-properties" Target="/docProps/app.xml" Id="R9ca02b1ff4dc45b7" /><Relationship Type="http://schemas.openxmlformats.org/officeDocument/2006/relationships/officeDocument" Target="/ppt/presentation.xml" Id="R0454a171c43f4cf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5d5ac7195fb46ef"/>
  </p:sldMasterIdLst>
  <p:notesMasterIdLst>
    <p:notesMasterId xmlns:r="http://schemas.openxmlformats.org/officeDocument/2006/relationships" r:id="R5073eff2f64c46e9"/>
  </p:notesMasterIdLst>
  <p:sldIdLst>
    <p:sldId xmlns:r="http://schemas.openxmlformats.org/officeDocument/2006/relationships" id="256" r:id="R52feaf3d763a40a5"/>
    <p:sldId xmlns:r="http://schemas.openxmlformats.org/officeDocument/2006/relationships" id="257" r:id="R10320b5889654680"/>
    <p:sldId xmlns:r="http://schemas.openxmlformats.org/officeDocument/2006/relationships" id="258" r:id="R66f6af5202ee48f9"/>
    <p:sldId xmlns:r="http://schemas.openxmlformats.org/officeDocument/2006/relationships" id="259" r:id="Rf1138c1aa17e40fb"/>
    <p:sldId xmlns:r="http://schemas.openxmlformats.org/officeDocument/2006/relationships" id="260" r:id="R015ad689761541cc"/>
    <p:sldId xmlns:r="http://schemas.openxmlformats.org/officeDocument/2006/relationships" id="261" r:id="R011f941b85af4a79"/>
    <p:sldId xmlns:r="http://schemas.openxmlformats.org/officeDocument/2006/relationships" id="262" r:id="R54ec15ca487940c4"/>
    <p:sldId xmlns:r="http://schemas.openxmlformats.org/officeDocument/2006/relationships" id="263" r:id="R5af8a004e7b44df7"/>
    <p:sldId xmlns:r="http://schemas.openxmlformats.org/officeDocument/2006/relationships" id="264" r:id="R90dc4e4ab4104c25"/>
    <p:sldId xmlns:r="http://schemas.openxmlformats.org/officeDocument/2006/relationships" id="265" r:id="R1bdcf90f0ab64f62"/>
    <p:sldId xmlns:r="http://schemas.openxmlformats.org/officeDocument/2006/relationships" id="266" r:id="Rfc084b39ab8f406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f3c72da4b2e4015" /><Relationship Type="http://schemas.openxmlformats.org/officeDocument/2006/relationships/slideMaster" Target="/ppt/slideMasters/slideMaster1.xml" Id="R85d5ac7195fb46ef" /><Relationship Type="http://schemas.openxmlformats.org/officeDocument/2006/relationships/notesMaster" Target="/ppt/notesMasters/notesMaster1.xml" Id="R5073eff2f64c46e9" /><Relationship Type="http://schemas.openxmlformats.org/officeDocument/2006/relationships/presProps" Target="/ppt/presProps.xml" Id="R664ac6ce37964251" /><Relationship Type="http://schemas.openxmlformats.org/officeDocument/2006/relationships/tableStyles" Target="/ppt/tableStyles.xml" Id="R64a6617cdfaa4e4d" /><Relationship Type="http://schemas.openxmlformats.org/officeDocument/2006/relationships/slide" Target="/ppt/slides/slide1.xml" Id="R52feaf3d763a40a5" /><Relationship Type="http://schemas.openxmlformats.org/officeDocument/2006/relationships/slide" Target="/ppt/slides/slide2.xml" Id="R10320b5889654680" /><Relationship Type="http://schemas.openxmlformats.org/officeDocument/2006/relationships/slide" Target="/ppt/slides/slide3.xml" Id="R66f6af5202ee48f9" /><Relationship Type="http://schemas.openxmlformats.org/officeDocument/2006/relationships/slide" Target="/ppt/slides/slide4.xml" Id="Rf1138c1aa17e40fb" /><Relationship Type="http://schemas.openxmlformats.org/officeDocument/2006/relationships/slide" Target="/ppt/slides/slide5.xml" Id="R015ad689761541cc" /><Relationship Type="http://schemas.openxmlformats.org/officeDocument/2006/relationships/slide" Target="/ppt/slides/slide6.xml" Id="R011f941b85af4a79" /><Relationship Type="http://schemas.openxmlformats.org/officeDocument/2006/relationships/slide" Target="/ppt/slides/slide7.xml" Id="R54ec15ca487940c4" /><Relationship Type="http://schemas.openxmlformats.org/officeDocument/2006/relationships/slide" Target="/ppt/slides/slide8.xml" Id="R5af8a004e7b44df7" /><Relationship Type="http://schemas.openxmlformats.org/officeDocument/2006/relationships/slide" Target="/ppt/slides/slide9.xml" Id="R90dc4e4ab4104c25" /><Relationship Type="http://schemas.openxmlformats.org/officeDocument/2006/relationships/slide" Target="/ppt/slides/slide10.xml" Id="R1bdcf90f0ab64f62" /><Relationship Type="http://schemas.openxmlformats.org/officeDocument/2006/relationships/slide" Target="/ppt/slides/slide11.xml" Id="Rfc084b39ab8f406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95ff1eeaba5461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33fc8fb58484806" /><Relationship Type="http://schemas.openxmlformats.org/officeDocument/2006/relationships/notesMaster" Target="/ppt/notesMasters/notesMaster1.xml" Id="Rd9519fa4a56241c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5e1aa6255b24fd3" /><Relationship Type="http://schemas.openxmlformats.org/officeDocument/2006/relationships/notesMaster" Target="/ppt/notesMasters/notesMaster1.xml" Id="R7f1e060c8b3444a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8c44e90825f408f" /><Relationship Type="http://schemas.openxmlformats.org/officeDocument/2006/relationships/notesMaster" Target="/ppt/notesMasters/notesMaster1.xml" Id="R5788d9634722430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00100d112fd461b" /><Relationship Type="http://schemas.openxmlformats.org/officeDocument/2006/relationships/notesMaster" Target="/ppt/notesMasters/notesMaster1.xml" Id="Rb83c6bfcfde44e0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9427329fe9f4b29" /><Relationship Type="http://schemas.openxmlformats.org/officeDocument/2006/relationships/notesMaster" Target="/ppt/notesMasters/notesMaster1.xml" Id="R855d99560cce4ef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87a98d463d84f5b" /><Relationship Type="http://schemas.openxmlformats.org/officeDocument/2006/relationships/notesMaster" Target="/ppt/notesMasters/notesMaster1.xml" Id="R149144aa2fb4499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e5e33ba69f24417" /><Relationship Type="http://schemas.openxmlformats.org/officeDocument/2006/relationships/notesMaster" Target="/ppt/notesMasters/notesMaster1.xml" Id="R606e1440b6d44d9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f1de580d17a48ff" /><Relationship Type="http://schemas.openxmlformats.org/officeDocument/2006/relationships/notesMaster" Target="/ppt/notesMasters/notesMaster1.xml" Id="Rbbd71c4bc37d489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465c208fe1b4659" /><Relationship Type="http://schemas.openxmlformats.org/officeDocument/2006/relationships/notesMaster" Target="/ppt/notesMasters/notesMaster1.xml" Id="R6bcde07fece2492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99d48a8ca3943a8" /><Relationship Type="http://schemas.openxmlformats.org/officeDocument/2006/relationships/notesMaster" Target="/ppt/notesMasters/notesMaster1.xml" Id="R6231701dc616453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100f7836d6742bc" /><Relationship Type="http://schemas.openxmlformats.org/officeDocument/2006/relationships/notesMaster" Target="/ppt/notesMasters/notesMaster1.xml" Id="R15b32a66d7074f7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by naming one business every student has been inside this month. Do not explain it. Round 1 makes them explain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Three minutes maximum. Investopedia defines a business model as a plan outlining what a company will do to create and deliver value to customers in order to make a profit.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https://www.investopedia.com/terms/b/businessmodel.asp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business representative joins for 10 to 15 minutes in Round 4, in person or by a short recorded introduction. Send them the Round 4 slide in advance.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Facilitation: 4 minutes to fill, 4 to trade and mark. Most students discover they cannot answer the cost box. Say out loud that this is normal and it is exactly what research is for.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https://www.investopedia.com/terms/b/businessmodel.asp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Investopedia's bar: clear, concise, understandable at a glance, and it shows what a brand offers that competitors do not. The banned-words rule is what forces specificity.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https://www.investopedia.com/terms/v/valueproposition.asp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Investopedia lists four segments: demographic, geographic, psychographic, and behavioral. The narrowing test is the activity; two rounds of it is usually enough.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https://www.investopedia.com/terms/t/target-market.asp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Send the four bullets in step 2 to the representative in advance so they do not improvise. If they send a recording instead, run the questions as a written list you forward afterwards.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https://www.investopedia.com/terms/m/market-research.asp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60-second limit is deliberate. A business nobody can source in a minute will not get easier in Meeting 3.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https://www.investopedia.com/terms/m/market-research.asp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Check each question against the four business-model boxes. If all five land on the product, the student has not really chosen a business yet.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Assignment: find at least three sources about the chosen business before Meeting 3 and write down where each one came from.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only if students or reviewers want the research base.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https://www.investopedia.com/terms/b/businessmodel.asp</a:t>
            </a:r>
          </a:p>
          <a:p xmlns:a="http://schemas.openxmlformats.org/drawingml/2006/main">
            <a:r>
              <a:t>- https://www.investopedia.com/terms/v/valueproposition.asp</a:t>
            </a:r>
          </a:p>
          <a:p xmlns:a="http://schemas.openxmlformats.org/drawingml/2006/main">
            <a:r>
              <a:t>- https://www.investopedia.com/terms/t/target-market.asp</a:t>
            </a:r>
          </a:p>
          <a:p xmlns:a="http://schemas.openxmlformats.org/drawingml/2006/main">
            <a:r>
              <a:t>- https://www.investopedia.com/terms/m/market-research.asp</a:t>
            </a:r>
          </a:p>
          <a:p xmlns:a="http://schemas.openxmlformats.org/drawingml/2006/main">
            <a:r>
              <a:t>- https://www.deca.org/compete</a:t>
            </a:r>
          </a:p>
          <a:p xmlns:a="http://schemas.openxmlformats.org/drawingml/2006/main">
            <a:r>
              <a:t>- https://www.investopedia.com/terms/b/business-plan.asp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0ce1e02d57433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4cdac2856f74062" /><Relationship Type="http://schemas.openxmlformats.org/officeDocument/2006/relationships/slideLayout" Target="/ppt/slideLayouts/slideLayout1.xml" Id="R04fc6af9ee58450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4fc6af9ee58450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bd9d4dcaf948a2" /><Relationship Type="http://schemas.openxmlformats.org/officeDocument/2006/relationships/notesSlide" Target="/ppt/notesSlides/notesSlide1.xml" Id="R11478190b27c482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3025f2e62e45de" /><Relationship Type="http://schemas.openxmlformats.org/officeDocument/2006/relationships/notesSlide" Target="/ppt/notesSlides/notesSlide2.xml" Id="Rbee8c121a81c46d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68d3c9b0504856" /><Relationship Type="http://schemas.openxmlformats.org/officeDocument/2006/relationships/notesSlide" Target="/ppt/notesSlides/notesSlide3.xml" Id="R862e7fece9b24a7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e98c90032141a0" /><Relationship Type="http://schemas.openxmlformats.org/officeDocument/2006/relationships/notesSlide" Target="/ppt/notesSlides/notesSlide4.xml" Id="Rd4fb6659a37f462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59c0e88ba24c0f" /><Relationship Type="http://schemas.openxmlformats.org/officeDocument/2006/relationships/notesSlide" Target="/ppt/notesSlides/notesSlide5.xml" Id="R1cb956ac592f432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f8d9d3b3f9471c" /><Relationship Type="http://schemas.openxmlformats.org/officeDocument/2006/relationships/notesSlide" Target="/ppt/notesSlides/notesSlide6.xml" Id="R512aa040f33a40c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dc22ef9639446d" /><Relationship Type="http://schemas.openxmlformats.org/officeDocument/2006/relationships/notesSlide" Target="/ppt/notesSlides/notesSlide7.xml" Id="R5633c9d3ba0c4f5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2a7c2f738d476c" /><Relationship Type="http://schemas.openxmlformats.org/officeDocument/2006/relationships/notesSlide" Target="/ppt/notesSlides/notesSlide8.xml" Id="R166f0adfdd974c5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b82dcfd1ce411b" /><Relationship Type="http://schemas.openxmlformats.org/officeDocument/2006/relationships/notesSlide" Target="/ppt/notesSlides/notesSlide9.xml" Id="R9bea95f24017441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230eb579af4a22" /><Relationship Type="http://schemas.openxmlformats.org/officeDocument/2006/relationships/notesSlide" Target="/ppt/notesSlides/notesSlide10.xml" Id="Ra9f0309636a0420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f7cb1a4f32486e" /><Relationship Type="http://schemas.openxmlformats.org/officeDocument/2006/relationships/notesSlide" Target="/ppt/notesSlides/notesSlide11.xml" Id="R16a1c3b13397406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50FD57-1FF1-446A-B879-4113F45FB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0"/>
            <a:ext cx="5524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E11984-85EE-4D5F-B4C1-145763B77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333500"/>
            <a:ext cx="4381500" cy="419100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29A407-0777-4D30-9A9D-1CBD41294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716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1CF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D1CFC9"/>
                </a:solidFill>
                <a:latin typeface="Helvetica Neue"/>
                <a:ea typeface="Helvetica Neue"/>
                <a:cs typeface="Helvetica Neue"/>
              </a:rPr>
              <a:t>MEETING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710C81-8E4E-4384-9F36-3E25C86D9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152650"/>
            <a:ext cx="5715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C8811F-3F08-4916-9BBF-42A1AC67B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95550"/>
            <a:ext cx="36576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Meet the</a:t>
            </a:r>
          </a:p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business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BCCF9D-986B-430F-B175-3E968B39F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CAREER CANVAS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21BB38-8542-4AB3-A153-799D2F921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6858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3E226A-6F43-4EE0-8CA1-7318817B9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4953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Meet the</a:t>
            </a:r>
          </a:p>
          <a:p xmlns:a="http://schemas.openxmlformats.org/drawingml/2006/main">
            <a:pPr algn="l">
              <a:defRPr sz="390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business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293617-2B2B-4E4C-8730-E028F96CA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67100"/>
            <a:ext cx="4762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Take a real business apart, meet the people who run one, and leave with five questions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3E8FE3-2D8D-42DB-9793-BFC8D30E7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Meeting 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32D714-7A22-4D5E-8E7E-591DD8772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361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Designed by Jada Lin and Olivia Zheng</a:t>
            </a:r>
          </a:p>
          <a:p xmlns:a="http://schemas.openxmlformats.org/drawingml/2006/main">
            <a:pPr algn="l">
              <a:defRPr sz="9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Great Neck South</a:t>
            </a:r>
          </a:p>
        </p:txBody>
      </p:sp>
    </p:spTree>
    <p:extLst>
      <p:ext uri="{BB962C8B-B14F-4D97-AF65-F5344CB8AC3E}">
        <p14:creationId xmlns:p14="http://schemas.microsoft.com/office/powerpoint/2010/main" val="205797808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F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3C6E4F-C0CE-474E-9DE8-168BAC08E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1CF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D1CFC9"/>
                </a:solidFill>
                <a:latin typeface="Helvetica Neue"/>
                <a:ea typeface="Helvetica Neue"/>
                <a:cs typeface="Helvetica Neue"/>
              </a:rPr>
              <a:t>THE ONLY THING WE TEACH TODAY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7A4715-D103-4BF0-A160-085370DF7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7810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 business model is a plan for making money.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47D124-4997-4523-B36C-69A3B9691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2857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0" b="1">
                <a:solidFill>
                  <a:srgbClr val="D1CF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8700" b="1">
                <a:solidFill>
                  <a:srgbClr val="D1CFC9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F6F748-F608-4B95-A805-55183B20A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552700"/>
            <a:ext cx="666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Products or services, target customers, revenue sources, cost structure. Four boxes.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132DD4-D678-4ADC-887A-FBA0899DC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9858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77D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EB11C4-F0C0-4127-BBA0-7BF68AB0B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72050"/>
            <a:ext cx="9906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DC4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BDC4D4"/>
                </a:solidFill>
                <a:latin typeface="Helvetica Neue"/>
                <a:ea typeface="Helvetica Neue"/>
                <a:cs typeface="Helvetica Neue"/>
              </a:rPr>
              <a:t>Fill those four boxes for any business on your street and you can ask it a real question. That is the whole meeting.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318A2A-BB78-4B2A-801F-929520B8D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77D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5C3C3B-561E-42F7-AF9C-6592F0054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96050"/>
            <a:ext cx="923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DC4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BDC4D4"/>
                </a:solidFill>
                <a:latin typeface="Helvetica Neue"/>
                <a:ea typeface="Helvetica Neue"/>
                <a:cs typeface="Helvetica Neue"/>
              </a:rPr>
              <a:t>Source: Investopedia, Business Model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3DF488-3588-495E-9354-51DEF9E33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4960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D1CF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D1CFC9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8367033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9529D3-A2E9-49FF-967B-E5564BFB3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RUN OF SHOW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9CD30F-BBAB-4531-BE4D-2B51C727D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Take one apart. Then choose your own.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631A63-C8E8-41CD-B71E-76AEE0A02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1057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Everything you make for the rest of the program comes out of the choice you make in the last round.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52E85F-BF4F-42FC-8C97-4FB99A520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352800"/>
            <a:ext cx="92392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DC4D4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27E7B9-9D2D-4B55-92E6-88959C3F1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62250"/>
            <a:ext cx="1190625" cy="1190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77D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B3F2D3-B82D-49F4-AA67-E2A9B4F07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90850"/>
            <a:ext cx="57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F17EB4-D7A4-45C3-A4AD-B6D1F9A76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1910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ROUND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8E2FE0-EA0A-425B-B92D-DA9423756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4591050"/>
            <a:ext cx="2190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Reverse-engineer a business everyone knows.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E31B73-424C-4420-9850-75DED8916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762250"/>
            <a:ext cx="1190625" cy="1190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77D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554DC0-A941-4488-99EF-453277180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990850"/>
            <a:ext cx="57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C4B07B-6365-42D3-81CD-C09322ED0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41910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ROUNDS 2 TO 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70187D-BE67-488A-918C-B625708FF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4591050"/>
            <a:ext cx="2190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Write its value and its customer, in one line each.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1E8165-72D4-46A4-9625-D14305095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762250"/>
            <a:ext cx="1190625" cy="1190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8B5AB5-DFCC-42D4-BD28-2E177DB49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990850"/>
            <a:ext cx="57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5EB013-7555-47ED-82BA-7CD54115B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1910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ROUND 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64A4AA-E49F-4174-8536-BCF784709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4591050"/>
            <a:ext cx="2190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The partner business is in the room. Ask them.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EDE1C8-F15D-4A24-9A86-B5490210E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762250"/>
            <a:ext cx="1190625" cy="1190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77D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3FD7BD-5AFF-4DBC-B662-143853A8F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990850"/>
            <a:ext cx="57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3027F2-6200-44BB-9419-E133A386D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41910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ROUND 5 AND BUILD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B1CEE8-B605-483F-AA8D-525329CE5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4591050"/>
            <a:ext cx="2190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Choose your business. Write five questions.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0589D5-494F-4691-A90C-B74E5C603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4D4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034C87-FFE4-4DA0-BBBF-6DF182188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96050"/>
            <a:ext cx="923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Career Canvas program structure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213DB8-3B23-401F-8297-9C80D17F1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4960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41197780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284EC8-12F1-4C70-AA1B-5B5CEB85D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238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78402F-0C0B-4B6A-97A3-4D82E3388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ROUND 1 OF 5 · REVERSE-ENGINEER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2255E0-5FD9-4A8A-8DCC-1763494E6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61950"/>
            <a:ext cx="13906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66FD09-D76C-4CD0-8F58-D3EEF169F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76250"/>
            <a:ext cx="1390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8 MIN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928C54-18C6-43A4-8ADD-CE112F759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60388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Fill four boxes for a business you already know.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882EF1-BD71-45EE-8C95-8D0B9CC28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6F99F8-1F24-4DD2-8154-E6646E8A0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2407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89E35E-64A6-452F-9E65-E4FB68201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38350"/>
            <a:ext cx="5524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Pick somewhere you have been in the last month. Write its name.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4FB19C-F1D1-49EF-98DB-538A23865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168467-CFC8-4CF0-B97F-E3F7B7DA6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417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C13BC5-6152-4235-98AF-8350AE33F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38450"/>
            <a:ext cx="5524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Fill in: what it sells, who buys, where the money comes from, what it costs them to run.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867AC2-7942-40B4-9480-8683B38D9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87A35C-B557-4358-BB95-0360BD0F4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2427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F6FE83-27D8-4A66-89A3-0F7905ED8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38550"/>
            <a:ext cx="5524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Trade with a partner. Mark every box you filled by guessing.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C2B851-60E0-4586-BEDC-F0E1C985A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76900"/>
            <a:ext cx="60388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9DCD32-5C25-4757-8516-C1AD56913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810250"/>
            <a:ext cx="5657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Those four boxes are what a business model is: products, target customers, revenue, cost structure. (Investopedia)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D1D4BE-3623-4A52-8607-C39BE8EDD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143000"/>
            <a:ext cx="3790950" cy="4305300"/>
          </a:xfrm>
          <a:prstGeom xmlns:a="http://schemas.openxmlformats.org/drawingml/2006/main" prst="roundRect">
            <a:avLst>
              <a:gd name="adj" fmla="val 2010"/>
            </a:avLst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61ABF9-44AB-4A83-B73F-FE495B95E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5049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1CF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D1CFC9"/>
                </a:solidFill>
                <a:latin typeface="Helvetica Neue"/>
                <a:ea typeface="Helvetica Neue"/>
                <a:cs typeface="Helvetica Neue"/>
              </a:rPr>
              <a:t>YOU WALK OUT WITH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55C87C-044A-4E04-9066-A9DCF2D39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62150"/>
            <a:ext cx="30289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Four filled boxes and a list of your own guesses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E855AA-3027-437E-9A21-4DCE3FF8E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33900"/>
            <a:ext cx="3028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DC4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BDC4D4"/>
                </a:solidFill>
                <a:latin typeface="Helvetica Neue"/>
                <a:ea typeface="Helvetica Neue"/>
                <a:cs typeface="Helvetica Neue"/>
              </a:rPr>
              <a:t>The guesses matter more than the answers. Those are research questions.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4428F1-9390-443B-B6BB-3FB97D7B4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4D4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D0DC1E-94D0-40C6-96B6-9283B6680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96050"/>
            <a:ext cx="923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Source: Investopedia, Business Model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AAAA40-AB72-43CD-AC30-00AC0FFBC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4960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11678465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3DEA73-F131-4C71-A0B7-3B9E6605A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238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3CCD45-A9A7-42C4-8FA2-DE5DF32AA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ROUND 2 OF 5 · VALUE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1C8A11-0718-412D-9FB8-047A8D102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61950"/>
            <a:ext cx="13906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30A238-9EE6-420F-BA87-BD7A6DD59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76250"/>
            <a:ext cx="1390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5 MIN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5B2CD8-35FF-4ABD-AA9D-06C64EC60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60388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Write the promise, without using the word quality.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00BC79-597F-42CC-ABC6-CFC79DD69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014822-04DC-4F1C-8F17-B606AE17A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2407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6742E2-0416-4DCE-8D32-EB565DB0E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38350"/>
            <a:ext cx="5524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Take the last thing you bought with your own money.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5DF774-4B29-4705-BFDB-401CBB8C1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880610-567C-4F54-BDC3-6A42EDB5A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417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CF2F21-B144-4197-A461-CEB968105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38450"/>
            <a:ext cx="5524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Write one sentence: why you chose it over the alternative.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0F9207-7B37-4F50-A07F-78C49394B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BEA0C3-6573-4EF9-B307-ED2A57164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2427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FE259D-CEE8-421C-B637-36A78A930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38550"/>
            <a:ext cx="5524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Banned words: best, quality, amazing, great. Rewrite if you used one.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3FE9A5-2544-4D89-83A1-A63606476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76900"/>
            <a:ext cx="60388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F986B1-CA0D-4EF4-BD50-C775E7230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810250"/>
            <a:ext cx="5657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A value proposition states the unique value a product delivers to a specific customer. (Investopedia)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5BEF07-F9F0-488B-BBAE-4B5407D42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143000"/>
            <a:ext cx="3790950" cy="4305300"/>
          </a:xfrm>
          <a:prstGeom xmlns:a="http://schemas.openxmlformats.org/drawingml/2006/main" prst="roundRect">
            <a:avLst>
              <a:gd name="adj" fmla="val 2010"/>
            </a:avLst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40D04F-B49B-49C4-9B8C-C8088F0B6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5049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1CF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D1CFC9"/>
                </a:solidFill>
                <a:latin typeface="Helvetica Neue"/>
                <a:ea typeface="Helvetica Neue"/>
                <a:cs typeface="Helvetica Neue"/>
              </a:rPr>
              <a:t>YOU WALK OUT WITH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F49FB8-E40D-42FA-8AA3-66CBE1D2E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62150"/>
            <a:ext cx="30289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One value proposition in your own words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A2AE5D-0D6D-4D36-BA47-4E8473CD1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33900"/>
            <a:ext cx="3028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DC4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BDC4D4"/>
                </a:solidFill>
                <a:latin typeface="Helvetica Neue"/>
                <a:ea typeface="Helvetica Neue"/>
                <a:cs typeface="Helvetica Neue"/>
              </a:rPr>
              <a:t>You will write one of these about your chosen business in Meeting 4.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88EE3F-50F6-4663-A1AC-1CB78994C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4D4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231830-89A3-4640-890A-BCE1197F7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96050"/>
            <a:ext cx="923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Source: Investopedia, Value Proposition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9348B1-9876-4D51-8931-C2445528F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4960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58020237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85B596-2980-4D10-B0C4-16D386A6C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238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75BE43-B648-4011-91D3-172E18BC9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ROUND 3 OF 5 · CUSTOMER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FBF252-ACA0-478E-8DF0-76CA52F8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61950"/>
            <a:ext cx="13906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1E5339-76F5-4C8B-83C0-99B4262A6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76250"/>
            <a:ext cx="1390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5 MIN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30AEAC-9167-4D8D-82AA-53C49362E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60388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Describe one customer so exactly that someone could find them.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FC6342-1203-42E4-8EF3-4A9719ADA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0522AB-208C-4E95-AC57-DAD335D24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2407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05A48F-8DF2-4A86-AD90-28B8FB6AF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38350"/>
            <a:ext cx="5524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Write who buys from the business in Round 1.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B04CFE-1E82-4A29-A751-A373AB2ED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FDC42F-9EAF-4EE8-A2B1-CCAC731E6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417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E76C5A-9CA8-47AD-B54F-CB78E3463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38450"/>
            <a:ext cx="5524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Use at least two of: demographic, geographic, psychographic, behavioral.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20FAC1-8219-43B4-A689-44234FCA1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AEF971-0871-432A-AABF-1126270B7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2427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07DC0A-5A6C-4ED2-A889-AFAEADE2B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38550"/>
            <a:ext cx="5524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Read it to a partner. If it could be them and also their grandmother, narrow it.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7007D8-95CE-4021-BB69-E8AA965F0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76900"/>
            <a:ext cx="60388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C43C71-27A4-4F44-8E71-1D19BF2B1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810250"/>
            <a:ext cx="5657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A target market is the specific slice of consumers a company aims to serve, not the general public. (Investopedia)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AFFF31-9667-42F8-87B2-42646EE68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143000"/>
            <a:ext cx="3790950" cy="4305300"/>
          </a:xfrm>
          <a:prstGeom xmlns:a="http://schemas.openxmlformats.org/drawingml/2006/main" prst="roundRect">
            <a:avLst>
              <a:gd name="adj" fmla="val 2010"/>
            </a:avLst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98D4E6-FCD5-4B18-AA83-0A536F911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5049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1CF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D1CFC9"/>
                </a:solidFill>
                <a:latin typeface="Helvetica Neue"/>
                <a:ea typeface="Helvetica Neue"/>
                <a:cs typeface="Helvetica Neue"/>
              </a:rPr>
              <a:t>YOU WALK OUT WITH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98146C-F017-419A-8FD8-B8FEF6EC4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62150"/>
            <a:ext cx="30289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 customer description you could act 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998088-8EF3-4A06-B228-72BBFF707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33900"/>
            <a:ext cx="3028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DC4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BDC4D4"/>
                </a:solidFill>
                <a:latin typeface="Helvetica Neue"/>
                <a:ea typeface="Helvetica Neue"/>
                <a:cs typeface="Helvetica Neue"/>
              </a:rPr>
              <a:t>This becomes the target-customer section of your paper and the audience for your ad.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AAE11B-E82D-4108-8C63-0E090C485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4D4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C40BF7-D4F0-4CB6-A140-464F027B4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96050"/>
            <a:ext cx="923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Source: Investopedia, Target Market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F6E1DC-B319-4D95-AAAB-B3AD8B826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4960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57364363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758A27-EDEA-4FCF-B174-30EB36681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238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B95433-F3DC-48B2-A415-CDA3E4BCD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ROUND 4 OF 5 · THE PARTNER IS HERE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D791D7-C699-41D7-8D15-F4A040910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61950"/>
            <a:ext cx="13906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BBFF43-A674-4BA7-8483-A922CAAA3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76250"/>
            <a:ext cx="1390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15 MIN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9585BC-EF13-4ADC-BD70-6C98883FF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60388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Ask the business the things you could not find out.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DF14FD-C7D6-4B81-8D01-C7D5498D4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11E092-F6B6-4345-88E3-0B9DD25E2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2407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AF8E90-8BD6-4375-8DE9-5DBEB8F9C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38350"/>
            <a:ext cx="5524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Before they speak: write two questions from your guess list in Round 1.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F41BA5-058D-4B0D-9240-9EB6341BC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7BA407-7C6E-4E43-824F-92F47E326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417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D482F9-867E-415D-A4DF-EEB98262D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38450"/>
            <a:ext cx="5524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They take 10 minutes: who they are, what sells most, who buys, what is hard right now.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98D229-9F3D-46E7-B3E5-3A203B4CB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AC3646-65B7-4DE2-A6C5-B5CAE84F7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2427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7C63B7-94F4-4790-B5ED-C2D734675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38550"/>
            <a:ext cx="5524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You take 5: ask your two questions and write the answers down verbatim.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356809-3A3A-47AB-AD4E-1FAC59C33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76900"/>
            <a:ext cx="60388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B62AFE-F9FC-4293-B16E-5AAE1B15A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810250"/>
            <a:ext cx="5657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An answer from the owner is primary data. An article about them is secondary. You need both. (Investopedia)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A7E01D-62B7-4624-B53F-D85063318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143000"/>
            <a:ext cx="3790950" cy="4305300"/>
          </a:xfrm>
          <a:prstGeom xmlns:a="http://schemas.openxmlformats.org/drawingml/2006/main" prst="roundRect">
            <a:avLst>
              <a:gd name="adj" fmla="val 2010"/>
            </a:avLst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EB658A-6534-4821-B191-588A00997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5049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1CF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D1CFC9"/>
                </a:solidFill>
                <a:latin typeface="Helvetica Neue"/>
                <a:ea typeface="Helvetica Neue"/>
                <a:cs typeface="Helvetica Neue"/>
              </a:rPr>
              <a:t>YOU WALK OUT WITH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C42942-37C5-4C5B-AE34-CB5D1177E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62150"/>
            <a:ext cx="30289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Two answers, in the owner's own words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5B8466-130A-42FF-A630-15DDE8E84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33900"/>
            <a:ext cx="3028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DC4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BDC4D4"/>
                </a:solidFill>
                <a:latin typeface="Helvetica Neue"/>
                <a:ea typeface="Helvetica Neue"/>
                <a:cs typeface="Helvetica Neue"/>
              </a:rPr>
              <a:t>Quote these in your paper. Nobody else in the room will have them.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34A0D9-77AE-4608-B0D9-894C665A1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4D4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D48CB6-BACF-4525-9E3E-50BABA500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96050"/>
            <a:ext cx="923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Source: Investopedia, Market Research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9E8263-7B8B-421D-9E99-6B8FB0FD2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4960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05057202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0B48A3-AC9F-4B8E-BA67-6E9C128C9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238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F9C1CE-2858-4321-B809-0143756A3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ROUND 5 OF 5 · CHOOSE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5FE307-DEE7-438D-A216-89540EE39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61950"/>
            <a:ext cx="13906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79790E-1C6E-4F6E-9B2A-DFB3F37F9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76250"/>
            <a:ext cx="1390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7 MIN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382CCE-E185-4E7C-A3AC-80F051A11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60388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Pick the business you will study for six weeks.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6062EA-2086-4D22-9652-BC00338FE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12E412-CB7D-4C97-A039-405D47AE5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2407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3E2654-EBE6-47A2-B491-CAAE6D39C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38350"/>
            <a:ext cx="5524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Shortlist three: the partner, one from your sketch, one you are curious about.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3D8930-413B-4D57-BE04-0354F541B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FBF0CE-E8D1-467F-98C9-51C2EB60D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417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45FEF4-AB69-4C61-9B1F-A8EC175E3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38450"/>
            <a:ext cx="5524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For each, try to name a competitor and one public source in 60 seconds.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4F7381-9C22-47B5-BF04-7E9D74A62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168B73-BA1D-4F41-908B-87FCDD158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2427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DA4038-CFD5-4FA1-A139-8E64BAFE6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38550"/>
            <a:ext cx="5524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Keep the one you got furthest with. That is your business.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917310-0E1B-4B38-BAFA-0CA3B7C0E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76900"/>
            <a:ext cx="60388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B19AF1-A086-4D1C-8591-C62416782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810250"/>
            <a:ext cx="5657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If you cannot find three independent sources this week, study the industry instead of the single business.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9DB94E-9248-423A-A168-235EBBCC5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143000"/>
            <a:ext cx="3790950" cy="4305300"/>
          </a:xfrm>
          <a:prstGeom xmlns:a="http://schemas.openxmlformats.org/drawingml/2006/main" prst="roundRect">
            <a:avLst>
              <a:gd name="adj" fmla="val 2010"/>
            </a:avLst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53312C-A4C6-495F-A753-F3DC5D4C2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5049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1CF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D1CFC9"/>
                </a:solidFill>
                <a:latin typeface="Helvetica Neue"/>
                <a:ea typeface="Helvetica Neue"/>
                <a:cs typeface="Helvetica Neue"/>
              </a:rPr>
              <a:t>YOU WALK OUT WITH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BE501F-A0FF-47AB-8C22-77ECFD661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62150"/>
            <a:ext cx="30289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One business, chosen on evidence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8D9D09-7122-46F7-8F27-55C672141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33900"/>
            <a:ext cx="3028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DC4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BDC4D4"/>
                </a:solidFill>
                <a:latin typeface="Helvetica Neue"/>
                <a:ea typeface="Helvetica Neue"/>
                <a:cs typeface="Helvetica Neue"/>
              </a:rPr>
              <a:t>Changing later costs you a meeting, so choose on what you can research, not what you like.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CCD623-605F-4D14-9AA5-8BD9B0529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4D4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83B572-8B93-43C2-8CEA-7AD8166AC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96050"/>
            <a:ext cx="923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Source: Investopedia, Market Research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1FC9C7-198B-4870-A8AB-E3662B1FC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4960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98595400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C2E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6136D8-AD72-43B6-94FC-26152F865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1CF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D1CFC9"/>
                </a:solidFill>
                <a:latin typeface="Helvetica Neue"/>
                <a:ea typeface="Helvetica Neue"/>
                <a:cs typeface="Helvetica Neue"/>
              </a:rPr>
              <a:t>THE BUILD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555BA9-EFA2-4FF3-A105-1C3DBBE34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Write five questions you cannot answer yet.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03D8C7-1582-4954-A1DD-E5C086155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914400"/>
            <a:ext cx="13906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DF5068-49F3-4CD7-929B-BB6352E69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028700"/>
            <a:ext cx="1390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12 MIN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83A420-C8FB-42CC-8E3A-B46CD9A8A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00250"/>
            <a:ext cx="68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D1CF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D1CFC9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43DE65-8DF6-48D1-A22B-9A6D65ADF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981200"/>
            <a:ext cx="723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One about the product or service itself.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8895DB-78D9-45D8-911D-E8D575EE5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67025"/>
            <a:ext cx="68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D1CF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D1CFC9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4C5328-752B-4211-BF89-7B9AAC2D8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47975"/>
            <a:ext cx="723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One about who the customer is and why.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6AC1AC-CA56-4ECA-9CC7-E508000BD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33800"/>
            <a:ext cx="68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D1CF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D1CFC9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18196B-7221-4144-A981-FE1DA9F8C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714750"/>
            <a:ext cx="723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One about a competitor or an alternative.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6F0717-16B1-4992-9168-E680B5F62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00575"/>
            <a:ext cx="68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D1CF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D1CFC9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BF1EE6-C3B0-426C-BB45-5A8F42A19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81525"/>
            <a:ext cx="723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One about how the business reaches people.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B54F33-7D10-4C90-BD5C-184FDEAD7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67350"/>
            <a:ext cx="68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D1CF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D1CFC9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47F680-14FF-4BA3-B948-06AA22789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448300"/>
            <a:ext cx="723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One about the challenge the business is facing.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B9F737-7A50-4DF4-A34C-0BAC08B45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933575"/>
            <a:ext cx="2190750" cy="342900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88272F-EA5C-446A-AFF0-ED01DEC1E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23837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DELIVERABLE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91BA09-3B89-4804-9CE5-F02D08A7F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819400"/>
            <a:ext cx="17145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Five</a:t>
            </a:r>
          </a:p>
          <a:p xmlns:a="http://schemas.openxmlformats.org/drawingml/2006/main">
            <a:pPr algn="ctr">
              <a:defRPr sz="22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research</a:t>
            </a:r>
          </a:p>
          <a:p xmlns:a="http://schemas.openxmlformats.org/drawingml/2006/main">
            <a:pPr algn="ctr">
              <a:defRPr sz="22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questions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76DC03-1F55-4975-8BD2-4158ACCE9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457700"/>
            <a:ext cx="1714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None of them may be answerable yes or no.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384907-F711-41C7-83C6-D4C2684B5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77D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FA7FE3-ED2D-4449-9CFF-0228BC52C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96050"/>
            <a:ext cx="923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DC4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BDC4D4"/>
                </a:solidFill>
                <a:latin typeface="Helvetica Neue"/>
                <a:ea typeface="Helvetica Neue"/>
                <a:cs typeface="Helvetica Neue"/>
              </a:rPr>
              <a:t>Career Canvas Meeting 2 build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7E41CA-2914-4ED5-939C-66CF5C8C0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4960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D1CF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D1CFC9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61255862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7AC43D-4B92-4572-A76B-B76C0A003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BEFORE YOU LEAVE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0F564F-88C6-4262-A184-C200B9529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Read your hardest question out loud. Someone may already know where to look.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A8C130-3862-423A-98C4-FB984E1D6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495300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ADE5D7-AB8A-49BE-A1EB-79A9096AD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812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EXIT TICKET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27D7D6-B7DA-4372-A6C2-4587E002F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400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Which business did you choose?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50AAE8-5077-4D6E-B293-0145EFA5E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00450"/>
            <a:ext cx="400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Which question matters most?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AC90E7-E470-4C77-A6DD-7DE1163D6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43400"/>
            <a:ext cx="400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Where will you look first?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EFB0DD-D88C-4795-BA5D-EDE057A7B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000250"/>
            <a:ext cx="4905375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205B5C-107E-418B-BFA6-768EE7ED0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812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NEXT MEETING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D2BE57-A970-4D52-B5DC-865A90ABC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85750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Business research lab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E42BC3-C832-4E30-9469-74EDC259D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676650"/>
            <a:ext cx="3905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Bring your five questions. You will hunt sources, throw some out, and leave with findings you can defend.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F5EE27-D9D3-421E-AF86-278029668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4D4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4B2073-57BB-4128-8430-D80896C86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96050"/>
            <a:ext cx="923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Career Canvas Meeting 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D1859B-79F9-41D5-8320-681083FE6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4960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41510342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D1CFC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6C574B7-B4F5-4EA4-97A3-A139C4AC4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SOURCE LIBRARY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E735C0-3D41-42F2-9B87-2E5DCDB9C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Research used in this meeting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56F8F3-A8BA-4DDB-9440-6C038E4D2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1057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All links were accessed September 21, 2026.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BAAE69-9BFE-44ED-9FFF-077C8A64F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Investopedia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4718C7-7E50-4CC3-9B95-4585262AE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Business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C60A08-A7E8-4C64-8A85-557CBEED7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investopedia.com/terms/b/businessmodel.asp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86C0B2-87F3-4CCE-8A51-9E1805FB6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Investopedia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798C41-1489-47F2-8FB9-D46438421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2422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Value Proposition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CE9F58-0865-410B-9AF0-264B133F3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investopedia.com/terms/v/valueproposition.asp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D50EEA-9C5C-4908-980F-C20E3CAAE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Investopedia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B68D47-08EB-48C8-97E4-8E890BDF4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957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Target Market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96BA27-7440-4513-A44A-651AE000E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investopedia.com/terms/t/target-market.asp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DFD35D-EB73-498F-8A30-AE5142816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0955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Investopedia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AC0DAB-F4A4-4698-8E6B-6F326A031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3526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Market Research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ACDF85-3932-486C-8A2E-15BD65C93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66700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investopedia.com/terms/m/market-research.asp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AF5481-1D5D-4884-9E26-A3D67F88A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0670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DECA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6DFD6A-52E5-431A-A922-ED698F133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32422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Competitive Events Program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B8F44F-661F-4F43-A852-2010B4E37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63855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deca.org/compete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BD5B47-BD84-46B4-9337-39B8D04E2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0386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Investopedia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CC3AD4-8554-4416-B67E-F7793C5F2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2957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Business Plan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1E0AD1-E9F5-415D-A8A9-24883446F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61010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investopedia.com/terms/b/business-plan.asp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94ABB2-1B8B-4D95-9188-6DF022A93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4D4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9296CF-C6D2-43EE-99EF-3E6F9A13B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96050"/>
            <a:ext cx="923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Full URLs are also stored in the speaker notes of the slides that use them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CB9B37-10DD-48EE-86CB-65C4CE6C5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4960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2806322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2026-09-21T19:22:42.3830000Z</dcterms:created>
  <dcterms:modified xsi:type="dcterms:W3CDTF">2026-09-21T19:22:42.3830000Z</dcterms:modified>
</coreProperties>
</file>