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1caf7f75594032" /><Relationship Type="http://schemas.openxmlformats.org/officeDocument/2006/relationships/extended-properties" Target="/docProps/app.xml" Id="R6fccc5d95b6d476b" /><Relationship Type="http://schemas.openxmlformats.org/officeDocument/2006/relationships/officeDocument" Target="/ppt/presentation.xml" Id="Rcb0f240330da45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06f347213764743"/>
  </p:sldMasterIdLst>
  <p:notesMasterIdLst>
    <p:notesMasterId xmlns:r="http://schemas.openxmlformats.org/officeDocument/2006/relationships" r:id="Rc7b2c40aab414ce5"/>
  </p:notesMasterIdLst>
  <p:sldIdLst>
    <p:sldId xmlns:r="http://schemas.openxmlformats.org/officeDocument/2006/relationships" id="256" r:id="Rb09ef8d4ba7b4067"/>
    <p:sldId xmlns:r="http://schemas.openxmlformats.org/officeDocument/2006/relationships" id="257" r:id="R3619a6d43a604190"/>
    <p:sldId xmlns:r="http://schemas.openxmlformats.org/officeDocument/2006/relationships" id="258" r:id="R337c7fafc76b40ea"/>
    <p:sldId xmlns:r="http://schemas.openxmlformats.org/officeDocument/2006/relationships" id="259" r:id="R59a6e2a72f6b467a"/>
    <p:sldId xmlns:r="http://schemas.openxmlformats.org/officeDocument/2006/relationships" id="260" r:id="Rc5ea897ae43c4681"/>
    <p:sldId xmlns:r="http://schemas.openxmlformats.org/officeDocument/2006/relationships" id="261" r:id="R86c0a0f7f21143c6"/>
    <p:sldId xmlns:r="http://schemas.openxmlformats.org/officeDocument/2006/relationships" id="262" r:id="R01babc332d03476d"/>
    <p:sldId xmlns:r="http://schemas.openxmlformats.org/officeDocument/2006/relationships" id="263" r:id="Raf9fd9d7edea4638"/>
    <p:sldId xmlns:r="http://schemas.openxmlformats.org/officeDocument/2006/relationships" id="264" r:id="Rda7c4fa79e6446c4"/>
    <p:sldId xmlns:r="http://schemas.openxmlformats.org/officeDocument/2006/relationships" id="265" r:id="Rfe6a428c4e464941"/>
    <p:sldId xmlns:r="http://schemas.openxmlformats.org/officeDocument/2006/relationships" id="266" r:id="R6ca3afea28ab400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3eabc1ff1a404e" /><Relationship Type="http://schemas.openxmlformats.org/officeDocument/2006/relationships/slideMaster" Target="/ppt/slideMasters/slideMaster1.xml" Id="R606f347213764743" /><Relationship Type="http://schemas.openxmlformats.org/officeDocument/2006/relationships/notesMaster" Target="/ppt/notesMasters/notesMaster1.xml" Id="Rc7b2c40aab414ce5" /><Relationship Type="http://schemas.openxmlformats.org/officeDocument/2006/relationships/presProps" Target="/ppt/presProps.xml" Id="Rc1c1d322bac84605" /><Relationship Type="http://schemas.openxmlformats.org/officeDocument/2006/relationships/tableStyles" Target="/ppt/tableStyles.xml" Id="Re5ce338840df4d33" /><Relationship Type="http://schemas.openxmlformats.org/officeDocument/2006/relationships/slide" Target="/ppt/slides/slide1.xml" Id="Rb09ef8d4ba7b4067" /><Relationship Type="http://schemas.openxmlformats.org/officeDocument/2006/relationships/slide" Target="/ppt/slides/slide2.xml" Id="R3619a6d43a604190" /><Relationship Type="http://schemas.openxmlformats.org/officeDocument/2006/relationships/slide" Target="/ppt/slides/slide3.xml" Id="R337c7fafc76b40ea" /><Relationship Type="http://schemas.openxmlformats.org/officeDocument/2006/relationships/slide" Target="/ppt/slides/slide4.xml" Id="R59a6e2a72f6b467a" /><Relationship Type="http://schemas.openxmlformats.org/officeDocument/2006/relationships/slide" Target="/ppt/slides/slide5.xml" Id="Rc5ea897ae43c4681" /><Relationship Type="http://schemas.openxmlformats.org/officeDocument/2006/relationships/slide" Target="/ppt/slides/slide6.xml" Id="R86c0a0f7f21143c6" /><Relationship Type="http://schemas.openxmlformats.org/officeDocument/2006/relationships/slide" Target="/ppt/slides/slide7.xml" Id="R01babc332d03476d" /><Relationship Type="http://schemas.openxmlformats.org/officeDocument/2006/relationships/slide" Target="/ppt/slides/slide8.xml" Id="Raf9fd9d7edea4638" /><Relationship Type="http://schemas.openxmlformats.org/officeDocument/2006/relationships/slide" Target="/ppt/slides/slide9.xml" Id="Rda7c4fa79e6446c4" /><Relationship Type="http://schemas.openxmlformats.org/officeDocument/2006/relationships/slide" Target="/ppt/slides/slide10.xml" Id="Rfe6a428c4e464941" /><Relationship Type="http://schemas.openxmlformats.org/officeDocument/2006/relationships/slide" Target="/ppt/slides/slide11.xml" Id="R6ca3afea28ab400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32d4742fe8a499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25a93c85d3e4476" /><Relationship Type="http://schemas.openxmlformats.org/officeDocument/2006/relationships/notesMaster" Target="/ppt/notesMasters/notesMaster1.xml" Id="R22e74fbec6f240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6cb93ee528e4ded" /><Relationship Type="http://schemas.openxmlformats.org/officeDocument/2006/relationships/notesMaster" Target="/ppt/notesMasters/notesMaster1.xml" Id="R53bd3a1d0be14c8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4d9b81978214b3d" /><Relationship Type="http://schemas.openxmlformats.org/officeDocument/2006/relationships/notesMaster" Target="/ppt/notesMasters/notesMaster1.xml" Id="R24966d5b1b6f4a5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e6fadc0fd26454a" /><Relationship Type="http://schemas.openxmlformats.org/officeDocument/2006/relationships/notesMaster" Target="/ppt/notesMasters/notesMaster1.xml" Id="Rf56ee5014a6146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f08558304e643d0" /><Relationship Type="http://schemas.openxmlformats.org/officeDocument/2006/relationships/notesMaster" Target="/ppt/notesMasters/notesMaster1.xml" Id="R5efc03228b1f4bd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d84d12101154635" /><Relationship Type="http://schemas.openxmlformats.org/officeDocument/2006/relationships/notesMaster" Target="/ppt/notesMasters/notesMaster1.xml" Id="Re7793590812a4d0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270c7b973e745fe" /><Relationship Type="http://schemas.openxmlformats.org/officeDocument/2006/relationships/notesMaster" Target="/ppt/notesMasters/notesMaster1.xml" Id="R113b5ed295df4d7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a668aca01ff4e40" /><Relationship Type="http://schemas.openxmlformats.org/officeDocument/2006/relationships/notesMaster" Target="/ppt/notesMasters/notesMaster1.xml" Id="R4562321e186444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df08776175f4d14" /><Relationship Type="http://schemas.openxmlformats.org/officeDocument/2006/relationships/notesMaster" Target="/ppt/notesMasters/notesMaster1.xml" Id="R75d46e2022a04ce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866d386501547e3" /><Relationship Type="http://schemas.openxmlformats.org/officeDocument/2006/relationships/notesMaster" Target="/ppt/notesMasters/notesMaster1.xml" Id="R481353c057964fd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157c598474a481e" /><Relationship Type="http://schemas.openxmlformats.org/officeDocument/2006/relationships/notesMaster" Target="/ppt/notesMasters/notesMaster1.xml" Id="R424a3f1730a443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naming one business every student has been inside this month. Do not explain it. Round 1 makes them explain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Three minutes maximum. Investopedia defines a business model as a plan outlining what a company will do to create and deliver value to customers in order to make a profit.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https://www.investopedia.com/terms/b/businessmodel.asp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business representative joins for 10 to 15 minutes in Round 4, in person or by a short recorded introduction. Send them the Round 4 slide in advance.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Facilitation: 4 minutes to fill, 4 to trade and mark. Most students discover they cannot answer the cost box. Say out loud that this is normal and it is exactly what research is for.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https://www.investopedia.com/terms/b/businessmodel.asp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Investopedia's bar: clear, concise, understandable at a glance, and it shows what a brand offers that competitors do not. The banned-words rule is what forces specificity.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https://www.investopedia.com/terms/v/valueproposition.asp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Investopedia lists four segments: demographic, geographic, psychographic, and behavioral. The narrowing test is the activity; two rounds of it is usually enough.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https://www.investopedia.com/terms/t/target-market.asp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Send the four bullets in step 2 to the representative in advance so they do not improvise. If they send a recording instead, run the questions as a written list you forward afterwards.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https://www.investopedia.com/terms/m/market-research.asp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60-second limit is deliberate. A business nobody can source in a minute will not get easier in Meeting 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https://www.investopedia.com/terms/m/market-research.asp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Check each question against the four business-model boxes. If all five land on the product, the student has not really chosen a business yet.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Assignment: find at least three sources about the chosen business before Meeting 3 and write down where each one came from.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if students or reviewers want the research base.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https://www.investopedia.com/terms/b/businessmodel.asp</a:t>
            </a:r>
          </a:p>
          <a:p xmlns:a="http://schemas.openxmlformats.org/drawingml/2006/main">
            <a:r>
              <a:t>- https://www.investopedia.com/terms/v/valueproposition.asp</a:t>
            </a:r>
          </a:p>
          <a:p xmlns:a="http://schemas.openxmlformats.org/drawingml/2006/main">
            <a:r>
              <a:t>- https://www.investopedia.com/terms/t/target-market.asp</a:t>
            </a:r>
          </a:p>
          <a:p xmlns:a="http://schemas.openxmlformats.org/drawingml/2006/main">
            <a:r>
              <a:t>- https://www.investopedia.com/terms/m/market-research.asp</a:t>
            </a:r>
          </a:p>
          <a:p xmlns:a="http://schemas.openxmlformats.org/drawingml/2006/main">
            <a:r>
              <a:t>- https://www.deca.org/compete</a:t>
            </a:r>
          </a:p>
          <a:p xmlns:a="http://schemas.openxmlformats.org/drawingml/2006/main">
            <a:r>
              <a:t>- https://www.investopedia.com/terms/b/business-plan.asp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a79f3ebaf8487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0bd2cc07f242be" /><Relationship Type="http://schemas.openxmlformats.org/officeDocument/2006/relationships/slideLayout" Target="/ppt/slideLayouts/slideLayout1.xml" Id="Rc5e7309611b841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5e7309611b841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b23f6293984918" /><Relationship Type="http://schemas.openxmlformats.org/officeDocument/2006/relationships/notesSlide" Target="/ppt/notesSlides/notesSlide1.xml" Id="Re653a77e4734441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72c7aefac447f5" /><Relationship Type="http://schemas.openxmlformats.org/officeDocument/2006/relationships/notesSlide" Target="/ppt/notesSlides/notesSlide2.xml" Id="Refcb9dd918d04b9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878758574748c5" /><Relationship Type="http://schemas.openxmlformats.org/officeDocument/2006/relationships/notesSlide" Target="/ppt/notesSlides/notesSlide3.xml" Id="R312284f5fc17460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97322075164864" /><Relationship Type="http://schemas.openxmlformats.org/officeDocument/2006/relationships/notesSlide" Target="/ppt/notesSlides/notesSlide4.xml" Id="Rc60d5c6e8b8b438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5ca0aa2a344ba1" /><Relationship Type="http://schemas.openxmlformats.org/officeDocument/2006/relationships/notesSlide" Target="/ppt/notesSlides/notesSlide5.xml" Id="Rcce6d208ff1b42c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45cf4dd9fe4946" /><Relationship Type="http://schemas.openxmlformats.org/officeDocument/2006/relationships/notesSlide" Target="/ppt/notesSlides/notesSlide6.xml" Id="R12c4228bbac649a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aa24e08e354591" /><Relationship Type="http://schemas.openxmlformats.org/officeDocument/2006/relationships/notesSlide" Target="/ppt/notesSlides/notesSlide7.xml" Id="Rcac968f7689a424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257b2fb2cb4fe1" /><Relationship Type="http://schemas.openxmlformats.org/officeDocument/2006/relationships/notesSlide" Target="/ppt/notesSlides/notesSlide8.xml" Id="R7c4b8eb64079440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e8e386f11d4ebe" /><Relationship Type="http://schemas.openxmlformats.org/officeDocument/2006/relationships/notesSlide" Target="/ppt/notesSlides/notesSlide9.xml" Id="Rcecb7a36922b488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1dcd4d595e4f97" /><Relationship Type="http://schemas.openxmlformats.org/officeDocument/2006/relationships/notesSlide" Target="/ppt/notesSlides/notesSlide10.xml" Id="Re64349c73eea4e4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83a28f002748d6" /><Relationship Type="http://schemas.openxmlformats.org/officeDocument/2006/relationships/notesSlide" Target="/ppt/notesSlides/notesSlide11.xml" Id="R000cd05ab82047d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87B4BC-2A13-48D5-B4CF-4EE9A79F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D1CFC9"/>
                </a:solidFill>
                <a:latin typeface="Helvetica Neue"/>
                <a:ea typeface="Helvetica Neue"/>
                <a:cs typeface="Helvetica Neue"/>
              </a:rPr>
              <a:t>CAREER CANVAS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844A5F-E81E-4084-8DEF-DDE88160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CAREER DEVELOPMENT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C0EA6B-91C4-45A8-910C-12BE5D2F9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1087100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BC841D-0170-4334-B78A-B68D2B917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42875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996010-9613-41B1-B058-8CAE6E48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5260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MEETING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84E140-9FD2-44FA-BDC6-F1E1EB63F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90750"/>
            <a:ext cx="99060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Meet the</a:t>
            </a:r>
          </a:p>
          <a:p xmlns:a="http://schemas.openxmlformats.org/drawingml/2006/main">
            <a:pPr algn="l">
              <a:defRPr sz="4950" b="1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business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9D8275-97C2-4EF2-9E96-D3C8B06B2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86200"/>
            <a:ext cx="10191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AB1527-6CC5-4904-99BE-73351204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9810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Take a real business apart, meet the people who run one, and leave with five research questions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BC1B6D-889D-44E5-A57F-0519CBB1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95925"/>
            <a:ext cx="466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Designed by Jada Lin and Olivia Zheng</a:t>
            </a:r>
          </a:p>
          <a:p xmlns:a="http://schemas.openxmlformats.org/drawingml/2006/main">
            <a:pPr algn="l">
              <a:defRPr sz="13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Great Neck South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EBFD20-9567-4496-B84D-868A3698C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5626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GREAT NECK SOUTH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28C4BF-DEF1-4EAC-8C02-04BA18E8B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8982858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B43023-3058-4B39-9FE4-2896BAC5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A business model is a plan for making money.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40B2C3-DD3E-4D4C-B62C-7524FE33B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1163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84FD7D-53B9-42F1-AC0F-4E9348CC2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57275"/>
            <a:ext cx="1089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ONLY THING WE TEACH TODAY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F4B267-98BA-40FA-920F-B48C05EB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11163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DC1D24-B2ED-4E92-B2AB-775C0332A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8117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IDEA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45D26E-EDFE-463C-AFB4-DFC529F1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111633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38100">
            <a:solidFill>
              <a:srgbClr val="52677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8D6EFE-EEEB-425F-BC15-6828AA22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2333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88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A0BF52-32C2-4A17-ABD1-75C6C1D48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400300"/>
            <a:ext cx="285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7D022B-E9BA-4B7F-8287-64FD5541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71750"/>
            <a:ext cx="74104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Products or services, target customers, revenue sources, cost structure. Four boxes.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BA93EA-9AE7-4395-AE4D-19835CB74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91050"/>
            <a:ext cx="11163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5D1FC7-729B-4514-9B9E-FCFD8EA6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7677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WHY IT MATTERS TODAY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B943CD-062B-402A-8442-65317DE58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86350"/>
            <a:ext cx="111633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52677D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CE3E18-0DAC-4BC7-9161-693CD388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76850"/>
            <a:ext cx="10687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Fill those four boxes for any business on your street and you can ask it a real question. That is the whole meeting.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FEBEAC-2C46-4294-A3D9-D929872A1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29350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6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Source: Investopedia, Business Model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84AACA-56AC-4E04-9501-6734623D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5DBDB4-FAA6-4484-A7FE-95819AC5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CAREER CANVAS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733595-4EB8-4C32-84FE-4170A99D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6677025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FD6BDC-86D6-4149-98A1-4A881BEF0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65913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802113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2A0BF7-40A6-4C87-819F-E9C5A467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Take one apart. Then choose your own.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ED1E2F-CB7F-40C8-BD4D-C3796E74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1163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EDB380-DE7F-4CB4-9667-641D2380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57275"/>
            <a:ext cx="1089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RUN OF SHOW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24BBA4-F29D-4C1B-8DA0-EDC2093C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85900"/>
            <a:ext cx="1089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Everything you make for the rest of the program comes out of the choice you make in the last round.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590BE6-25F2-4CA6-8E46-C4B40B658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11163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856FF8-7C84-421A-B352-D5F3ADF8F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10744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MEETING PLAN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BDB976-90AF-43AE-8834-B8D2E0874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2657475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28575">
            <a:solidFill>
              <a:srgbClr val="52677D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FDEFC4-FDE8-4752-A2B2-ABC7F4D5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26574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FD4322-A3C0-459E-8A90-B36B4910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22002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89B5F0-DC89-4599-8AE7-8B50214C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23145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ROUND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F7ADE3-C95B-4D69-910B-472705FE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19600"/>
            <a:ext cx="22764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Reverse-engineer a business everyone knows.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C65D9A-3EEA-4CCA-A962-563E621C3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647950"/>
            <a:ext cx="2657475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52677D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A82978-398E-4B7C-9865-4E041860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647950"/>
            <a:ext cx="26574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C223E3-0EE8-4C0E-855A-DBE830619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800350"/>
            <a:ext cx="22002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515F79-5EBF-4888-816D-B547DA5E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29050"/>
            <a:ext cx="23145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ROUNDS 2 TO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4AFFCF-A262-4938-A25E-55C32E8A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4419600"/>
            <a:ext cx="22764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Write its value and its customer, in one line each.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0254E9-4B11-4A3B-A059-9E8B5FC5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47950"/>
            <a:ext cx="2657475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28575">
            <a:solidFill>
              <a:srgbClr val="52677D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170653-44C9-4F01-BCC7-8E833FA9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47950"/>
            <a:ext cx="26574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BD67B0-4296-48D2-8844-F0590436A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00350"/>
            <a:ext cx="22002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969C5F-6A7D-4608-81A5-1B8AFD734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29050"/>
            <a:ext cx="23145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ROUND 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0BA935-3EAE-4F3B-AC3E-78E323C2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19600"/>
            <a:ext cx="22764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The partner business is in the room. Ask them.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D55620-636E-41F8-98F2-8260ECACB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647950"/>
            <a:ext cx="2657475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52677D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535544-2834-45C7-9B0D-97095905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647950"/>
            <a:ext cx="26574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761F27-45DC-449E-8063-D07D0C07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800350"/>
            <a:ext cx="22002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22CA99-8D71-4F94-AEEB-74004223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829050"/>
            <a:ext cx="23145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ROUND 5 AND BUILD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3E4B67-A909-48AB-82FF-6B31E98BF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4419600"/>
            <a:ext cx="22764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Choose your business. Write five questions.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0D9879-C71C-4A78-BAD4-92CD5E04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29350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6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Career Canvas program structure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F77687-9B7D-4CBA-BDD9-1C1A3288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D87256-4E1E-44C0-B97B-CE0E172D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CAREER CANVAS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2E26F6-2727-4C48-A2D4-E941FAD5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6677025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8432D5-7309-4E5A-B6EA-E2FC50C9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65913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543715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704051-BA78-4480-96F3-49E108899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Fill four boxes for a business you already know.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452D71-79D2-41B2-9DEB-85262F3D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1163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194C64-8518-4656-8EF1-63C35D1C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57275"/>
            <a:ext cx="1089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ROUND 1 OF 5 · REVERSE-ENGINEER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EF64C1-2B1A-4AA6-9781-A3AAA051D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9906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BAAD6A-1C10-4165-9382-BBC8F4EDA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076325"/>
            <a:ext cx="1390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8 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2F10A6-20A7-4127-A32B-7E5A811B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657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831EA4-9ECC-426B-9B44-C5F55203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619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YOUR TASK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573BD2-5D38-43CA-9935-C698ABEF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657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38100">
            <a:solidFill>
              <a:srgbClr val="52677D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E6F359-B5E0-421D-BD88-480C4F6A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96FCDF-7CEF-41BB-B68A-A2A58D0B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43175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B76595-25CB-4C0E-8E51-C10321E9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457450"/>
            <a:ext cx="5391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Pick somewhere you have been in the last month. Write its name.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8A5CB3-B3F2-48A6-A5D4-E58DBCFA8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525E86-4D3B-422F-BE45-40B4D453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D8F47C-89BD-4FB8-8E4A-ADECF9B7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38525"/>
            <a:ext cx="5391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Fill in: what it sells, who buys, where the money comes from, what it costs them to run.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6CBE23-1E9D-4838-82DD-DE2CBB9B6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386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31F931-D9F3-4902-8756-90F5402CE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9E89CD-7F6A-402A-8683-2AB1DC5E7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19600"/>
            <a:ext cx="5391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Trade with a partner. Mark every box you filled by guessing.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783031-A01D-4C0D-9EFC-8F10D4C4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95450"/>
            <a:ext cx="4343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703822-872F-4BCB-815A-F0EA72B5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90700"/>
            <a:ext cx="3905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 LEAVE WITH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86546C-7DB4-4E59-AACA-5C7F60FB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190750"/>
            <a:ext cx="43434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52677D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75353D-2104-41DE-9B2D-B71B1281A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90800"/>
            <a:ext cx="3695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Four filled boxes and a list of your own guesses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25B2F2-F2B1-415C-B6EC-AB420C77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572000"/>
            <a:ext cx="3667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10BD0D-768C-4D0A-B806-7DF28D96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752975"/>
            <a:ext cx="3667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The guesses matter more than the answers. Those are research questions.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474230-46BB-4352-A5C3-EA0B96BF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05475"/>
            <a:ext cx="11106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Those four boxes are what a business model is: products, target customers, revenue, cost structure. (Investopedia)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4A18D9-DBBB-4609-B25A-214A799A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29350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6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Source: Investopedia, Business Model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E7A09D-9D1C-458E-90EE-1B01251F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1A87AB-2B62-4CD4-BBF6-CA881698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CAREER CANVAS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B5A1D0-9AE1-49BE-AB4C-F58AFF02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6677025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BE9775-044A-4438-AF77-09E850642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65913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840471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98E5EF-D2A6-42FE-B83B-BE75EB47A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Write the promise, without using the word quality.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75E118-4669-4DD1-958B-649AECB27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1163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B33B8E-A49A-44E6-BB49-9213E4960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57275"/>
            <a:ext cx="1089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ROUND 2 OF 5 · VALUE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01DE82-D773-4BE2-9464-8579F2FF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9906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FD91AC-73AF-403B-B287-277DE431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076325"/>
            <a:ext cx="1390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5 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18FC31-3CF0-49C6-9446-C2AD818C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657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F12FE2-3FF9-4164-87EE-708E178D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619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YOUR TASK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BCD502-1878-48AA-9D8F-22623047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657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38100">
            <a:solidFill>
              <a:srgbClr val="52677D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493814-9CD5-4F42-AE8C-17E11E489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F80BF4-F3EC-4184-8583-881914DB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43175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14B4BB-795E-48A5-B2C5-8895518B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457450"/>
            <a:ext cx="5391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Take the last thing you bought with your own money.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5EADAC-E8DB-48D6-AC3F-92138A7D9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8466C4-815B-41A2-A0ED-B2E0DB93F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3E661B-A760-4C4F-B8DC-C3F709162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38525"/>
            <a:ext cx="5391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Write one sentence: why you chose it over the alternative.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F560D9-A670-43C0-B040-B180BCA0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386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391267-5719-4BBD-B2C5-C4FD57CAF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795656-C3E3-403D-A9CF-A0F352C5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19600"/>
            <a:ext cx="5391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Banned words: best, quality, amazing, great. Rewrite if you used one.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CEB920-5819-4868-A7D2-F2D5DD12D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95450"/>
            <a:ext cx="4343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F930B0-E10E-4455-8FB2-5929C88CF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90700"/>
            <a:ext cx="3905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 LEAVE WITH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20944B-12D2-4199-BFA6-ACFCA9FC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190750"/>
            <a:ext cx="43434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52677D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A3587D-F8F2-4195-AA57-692F22B1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90800"/>
            <a:ext cx="3695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One value proposition in your own words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1BA7FD-E13F-4CF4-A2DA-B435B6EB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572000"/>
            <a:ext cx="3667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C23CFD-D8F0-475C-B82E-3C8BF07B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752975"/>
            <a:ext cx="3667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You will write one of these about your chosen business in Meeting 4.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9A7834-47E2-48CC-A544-8D9778C7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05475"/>
            <a:ext cx="11106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A value proposition states the unique value a product delivers to a specific customer. (Investopedia)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8486F6-0E93-4AD9-878F-379393A0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29350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6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Source: Investopedia, Value Proposition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31D242-52B0-4F4F-8860-66054CDE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B4DBBC-C4EA-45FB-B721-B0E6DECF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CAREER CANVAS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47FC3A-EB90-4C03-B448-507E0928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6677025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CCC453-4857-4F96-A90D-750E03A49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65913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162880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F4CA14-7B17-4CB6-B583-54A50AE9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Describe one customer so exactly that someone could find them.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576648-83C2-45F2-B591-BE1CE3AC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1163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825E00-F312-4749-922D-05891BC2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57275"/>
            <a:ext cx="1089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ROUND 3 OF 5 · CUSTOMER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BCBE96-14AE-48CA-BF27-322CEE46A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9906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4CE655-2AEB-4242-A2CA-5AD7F5F21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076325"/>
            <a:ext cx="1390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5 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06DE8F-1661-4AD9-92EB-DBC877717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657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33E3B2-B5AA-4082-8198-56C0055B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619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YOUR TASK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563210-E309-4032-BCF2-3D77C75E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657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38100">
            <a:solidFill>
              <a:srgbClr val="52677D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DDACD5-D03F-4D0F-92C6-D28874CB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3B373A-7330-4CBD-B8E4-BC9479EC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43175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C3C615-CF7B-4633-863F-0B0489880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457450"/>
            <a:ext cx="5391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Write who buys from the business in Round 1.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CF3372-6A1A-48E5-9ABD-46BDC65F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01CC79-0983-4132-98FD-B065BCEE0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5C2545-17A4-4390-BB57-BA8E6C80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38525"/>
            <a:ext cx="5391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Use at least two of: demographic, geographic, psychographic, behavioral.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E47A47-6459-49AE-95D9-247891E7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386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D0830F-7D32-4631-AC33-225F8577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0261FB-73A3-4711-B414-64FCD4A99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19600"/>
            <a:ext cx="5391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Read it to a partner. If it could be them and also their grandmother, narrow it.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25D1D8-445A-4C07-908B-E322C7379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95450"/>
            <a:ext cx="4343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6E0EB7-B80A-4CF7-8071-03457CE7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90700"/>
            <a:ext cx="3905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 LEAVE WITH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19D341-C383-46FA-8DED-D66FB297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190750"/>
            <a:ext cx="43434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52677D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8A789C-A700-4277-9DD9-017A182DE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90800"/>
            <a:ext cx="3695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A customer description you could act 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4D3A35-D5DE-401F-9AC6-B9CD8B35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572000"/>
            <a:ext cx="3667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5938CC-2019-4729-9C6A-D387EE196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752975"/>
            <a:ext cx="3667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This becomes the target-customer section of your paper and the audience for your ad.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932167-E2A7-4FCE-9B72-88223D2C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05475"/>
            <a:ext cx="11106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A target market is the specific slice of consumers a company aims to serve, not the general public. (Investopedia)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C32816-CC27-4A82-A80D-270D8CD4A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29350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6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Source: Investopedia, Target Market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40B826-C52A-43FD-B84E-0E54EC91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B892F6-57FA-4790-B29B-F293D195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CAREER CANVAS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9BF1B0-61EA-4534-BFF1-2FF13BDBC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6677025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38250C-7DD2-4220-AA6A-9C2BA7AF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65913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147338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BCF41C-23B1-4601-ADBE-117B9A2EE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Ask the business the things you could not find out.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FDE9A6-371C-47E3-B7E1-6D29BA89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1163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2CD8C3-3526-433D-BFF8-224226E9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57275"/>
            <a:ext cx="1089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ROUND 4 OF 5 · THE PARTNER IS HERE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A1F0A9-F173-4B85-80D7-95B1DCC67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9906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898C9D-B1E3-4077-AEEB-1A5285B3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076325"/>
            <a:ext cx="1390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15 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A3A3D0-8969-4207-B2CC-78CFDED59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657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4D4513-C18C-4663-9F60-4A0726F4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619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YOUR TASK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2C73AC-AC84-4598-8B2C-B7EFA024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657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38100">
            <a:solidFill>
              <a:srgbClr val="52677D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CEC0B9-0B07-408A-8B3C-FE65214F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B13E3F-D058-48EC-A2CF-6BE90E6D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43175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4F2AC2-BD79-4CB0-92C7-40BCA82E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457450"/>
            <a:ext cx="5391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Before they speak: write two questions from your guess list in Round 1.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B7C53E-E4D8-44EF-AEA9-A5C7973F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B8E558-5189-4171-91D1-68E4CA97A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9CA037-2395-44BB-86AA-B20C9062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38525"/>
            <a:ext cx="5391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They take 10 minutes: who they are, what sells most, who buys, what is hard right now.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84C40F-B71D-4ECB-9D24-85DB5581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386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3F2558-772D-4266-820A-4ED7EFF0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C0D798-4548-432C-9918-8A65F476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19600"/>
            <a:ext cx="5391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You take 5: ask your two questions and write the answers down verbatim.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66EC5-47C9-476C-BAED-A7316ACD5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95450"/>
            <a:ext cx="4343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75D9CF-E261-44D5-8B29-7C59226A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90700"/>
            <a:ext cx="3905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 LEAVE WITH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087710-14D8-4EEC-836A-3BDF0AF1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190750"/>
            <a:ext cx="43434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52677D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B04504-3552-4EA8-BC49-FAC2549B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90800"/>
            <a:ext cx="3695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Two answers, in the owner's own words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072979-070D-4D66-A081-82F269332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572000"/>
            <a:ext cx="3667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48FCC0-1BA6-4270-A373-987ADA194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752975"/>
            <a:ext cx="3667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Quote these in your paper. Nobody else in the room will have them.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BD61DB-3050-46A3-9809-043ED729B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05475"/>
            <a:ext cx="11106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An answer from the owner is primary data. An article about them is secondary. You need both. (Investopedia)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84FEB5-2446-4BF8-8C22-2877FEAD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29350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6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Source: Investopedia, Market Research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E07478-E2DE-4DEC-BDB6-BA98EBF6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10BE84-DF60-416B-A99E-E84850B7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CAREER CANVAS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39E507-DE0C-4CCA-A6FD-4A395E309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6677025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1053F1-9D4A-4E47-ADEE-CE39E254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65913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125582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E35C5E-6049-4839-9508-E6C347CC3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Pick the business you will study for six weeks.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E03679-7779-4439-AABC-300CE83E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1163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A9CAC6-AE18-4240-AD12-1CA7EA6F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57275"/>
            <a:ext cx="1089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ROUND 5 OF 5 · CHOOSE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72592B-D25D-4560-A6C4-8EB60E602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9906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FB584F-75C5-48AD-A68E-132A3F664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076325"/>
            <a:ext cx="13906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7 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7342BC-2585-47B6-B5D9-43A01F216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657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E33D6C-A65E-445C-85CA-1D8D4DC4D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619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YOUR TASK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9F9D88-99DA-436B-86ED-A6A6693D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657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38100">
            <a:solidFill>
              <a:srgbClr val="52677D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8DE2F7-9D19-44A6-848E-30F56F70A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81A409-7399-4E69-9EBA-279DE8C55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43175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BE3E9A-807C-4790-AD2B-B0C61E66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457450"/>
            <a:ext cx="5391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Shortlist three: the partner, one from your sketch, one you are curious about.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A7EC9F-FD09-4406-A33F-59DFEF4C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D72CAE-F46E-4F26-BE26-93C3C856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6AB29D-CB96-4B22-B7EB-17CCEE1DB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38525"/>
            <a:ext cx="5391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For each, try to name a competitor and one public source in 60 seconds.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8B4855-B281-457B-8854-752FD42C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386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53CECA-B4EB-4B6A-B3C4-58563DD8F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1EFCA4-BCDF-4FDE-848D-C7E793A5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19600"/>
            <a:ext cx="5391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Keep the one you got furthest with. That is your business.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DBA389-D959-41FD-849D-CD7C4D4A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95450"/>
            <a:ext cx="4343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988223-A895-421D-B9A8-75E9949F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90700"/>
            <a:ext cx="3905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 LEAVE WITH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D0881F-FB9A-4F32-A105-51BAC2BB8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190750"/>
            <a:ext cx="43434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52677D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1C9AE2-0036-4E96-8C97-3CB256AE2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90800"/>
            <a:ext cx="3695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One business, chosen on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141F31-4733-476A-ABC5-36A6E8A4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572000"/>
            <a:ext cx="3667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A3B800-27BB-457B-A502-C02EA638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752975"/>
            <a:ext cx="3667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Changing later costs you a meeting, so choose on what you can research, not what you like.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172DFF-B737-43BF-BF2C-CE07BA4C5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05475"/>
            <a:ext cx="11106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If you cannot find three independent sources this week, study the industry instead of the single business.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3F950C-0A90-473C-AF3D-1375E9EE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29350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6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Source: Investopedia, Market Research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269BD1-FB94-47AE-BDFB-6C643517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36BDBD-13E0-441F-BBD1-A3BB9F70A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CAREER CANVAS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25B310-0125-4385-9768-B34398A5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6677025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948B06-F981-480E-A766-FBF05553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65913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33654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C2E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800AB4-BBC3-43D3-8679-3D948C7FF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Write five questions you cannot answer yet.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BAE166-94B9-4C0D-869C-5B0048752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1163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F70734-5928-416A-BCB4-6733DB25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57275"/>
            <a:ext cx="1089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BUILD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BCC18A-DBD4-4618-A5B9-E4078168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990600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A2B53A-C621-48A2-9D71-B3F967A13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076325"/>
            <a:ext cx="1390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12 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816EE7-DCB7-4577-A845-0F6C8C61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8191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8E1648-C78B-4E48-8310-22AC5B1B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85950"/>
            <a:ext cx="781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BUILD STEPS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B2F583-FE04-4800-AE73-C7BDAC2D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8191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19050">
            <a:solidFill>
              <a:srgbClr val="52677D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54AF00-6A44-4AA7-81AB-7505428D6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685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033DCD-C862-4124-9E36-8B5351ACB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47925"/>
            <a:ext cx="6991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One about the product or service itself.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39C096-1407-4332-9D3E-AA7D6B6D4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57525"/>
            <a:ext cx="8191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19050">
            <a:solidFill>
              <a:srgbClr val="52677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9B87C9-7BBE-4566-9D4A-AE4210B6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71825"/>
            <a:ext cx="685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32DBB7-3EF0-4600-8DC3-6D85A8739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43250"/>
            <a:ext cx="6991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One about who the customer is and why.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8236BC-58AA-448A-8173-96ECF04B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52850"/>
            <a:ext cx="8191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19050">
            <a:solidFill>
              <a:srgbClr val="52677D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7C38E4-688D-4460-BFC3-1DE2470E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67150"/>
            <a:ext cx="685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B3AC8C-7DDE-4D94-8A3D-02DB27CE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38575"/>
            <a:ext cx="6991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One about a competitor or an alternative.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68729D-101B-4C1E-AF10-8DF38C23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48175"/>
            <a:ext cx="8191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19050">
            <a:solidFill>
              <a:srgbClr val="52677D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859489-9911-4B32-AFB8-FDD7927CE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62475"/>
            <a:ext cx="685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6DFC5D-CF6A-4CB7-9326-986EE8E2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33900"/>
            <a:ext cx="6991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One about how the business reaches people.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CB3C98-F23F-43E9-98FE-423A6CD99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43500"/>
            <a:ext cx="8191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19050">
            <a:solidFill>
              <a:srgbClr val="52677D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739314-F48A-4AC6-BFE1-CC72640D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57800"/>
            <a:ext cx="685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0060BA-4F39-425A-A522-DBF066DE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29225"/>
            <a:ext cx="6991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One about the challenge the business is facing.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63B883-39F1-4DDA-AEB3-9F6496DD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790700"/>
            <a:ext cx="2800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88755B-62EB-45EE-80E2-C8F339C8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8859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DELIVERABLE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6F8A32-ACD9-4A58-8020-4BC24543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286000"/>
            <a:ext cx="280035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D1CFC9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B5DB86-9D34-43F7-BB20-43CC73883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47950"/>
            <a:ext cx="230505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Five</a:t>
            </a:r>
          </a:p>
          <a:p xmlns:a="http://schemas.openxmlformats.org/drawingml/2006/main">
            <a:pPr algn="ctr">
              <a:defRPr sz="23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research</a:t>
            </a:r>
          </a:p>
          <a:p xmlns:a="http://schemas.openxmlformats.org/drawingml/2006/main">
            <a:pPr algn="ctr">
              <a:defRPr sz="23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questions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4B842E-8DF5-4688-867B-9A2CEE3F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591050"/>
            <a:ext cx="2305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DCA675-830C-4035-84DC-6C26AEAF4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91075"/>
            <a:ext cx="2305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None of them may be answerable yes or no.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6B4CA4-BDD3-4DC9-8577-F8F5E5EBF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29350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defRPr>
            </a:pPr>
            <a:r>
              <a:rPr sz="675" b="0">
                <a:solidFill>
                  <a:srgbClr val="BDC4D4"/>
                </a:solidFill>
                <a:latin typeface="Helvetica Neue"/>
                <a:ea typeface="Helvetica Neue"/>
                <a:cs typeface="Helvetica Neue"/>
              </a:rPr>
              <a:t>Career Canvas Meeting 2 build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0168B2-3D93-4780-85C7-F6AD81864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C0E291A-8415-445A-BB4D-28971C0C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CAREER CANVAS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7838EF-4793-4258-99CB-CAFC2BBB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6677025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0A7814-29DC-4095-A622-4BD8D80D4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65913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3914102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B9C313-9C58-402B-9FB6-733146F1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Read your hardest question out loud. Someone may already know where to look.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12985-9155-4812-A575-3629150D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1163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5FE0CF-1D47-437A-91F0-55F6EDE1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57275"/>
            <a:ext cx="1089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BEFORE YOU LEAVE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91C1E-E11B-4CC7-A013-AAFC778F4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5448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F5A4BD-6CEC-4294-9E2A-9A502E3E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85950"/>
            <a:ext cx="514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EXIT TICKET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408FA1-FCE3-4319-8B58-FA05490ED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0"/>
            <a:ext cx="544830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38100">
            <a:solidFill>
              <a:srgbClr val="52677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D0DDFE-7B03-4594-BB4D-9949BFBE5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DD85DD-99F0-45FD-86CB-5DD5562E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43175"/>
            <a:ext cx="4286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Which business did you choose?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3414E4-C93D-4CF0-8B20-83D08C79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337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A6D74C-D9D7-4099-B02D-217983CD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05200"/>
            <a:ext cx="4286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Which question matters most?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BFBE18-75D0-4671-8916-68D723B6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958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7CAABE-549D-4AFA-99FF-0AC0D6F4B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67225"/>
            <a:ext cx="4286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Where will you look first?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903092-59CB-4E7D-A48C-92DF1939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90700"/>
            <a:ext cx="5486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77D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9A522F-3501-4849-817D-46E66ADA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85950"/>
            <a:ext cx="5181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NEXT MEETING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376609-60C6-4C4D-A4C0-08CCF847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86000"/>
            <a:ext cx="548640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52677D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2A5447-2467-4CED-9069-E7A99D4E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38450"/>
            <a:ext cx="48006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Business research lab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84A61A-7AEA-4195-A401-BBD77DA6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62375"/>
            <a:ext cx="4686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2CE4E8-8E56-4BE4-AECC-23FD31BA7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10025"/>
            <a:ext cx="472440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0F1A2B"/>
                </a:solidFill>
                <a:latin typeface="Helvetica Neue"/>
                <a:ea typeface="Helvetica Neue"/>
                <a:cs typeface="Helvetica Neue"/>
              </a:rPr>
              <a:t>Bring your five questions. You will hunt sources, throw some out, and leave with findings you can defend.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03D1A5-CD04-407F-95E1-3C54AFA3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29350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6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Career Canvas Meeting 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551DBD-0D76-4536-AEAE-C71413FC7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1AA259-89BC-4AEE-BA21-1A03A08F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CAREER CANVAS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B5DBBD-42D8-44DE-86B5-C80889B3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6677025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EA2453-4A9A-4CB2-AE57-84F81C98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65913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188973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E6B7C9D-20A0-4EA1-9D94-73EF7BED9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Research used in this meeting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9469B2-D7C0-4694-9199-95BD2CE8F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71550"/>
            <a:ext cx="11163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1A5A6E-F8BA-481F-A1B2-1B99FB90D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57275"/>
            <a:ext cx="10896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SOURCE LIBRARY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51BF5A-68D8-46B4-87FC-ECE3BD3B4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85900"/>
            <a:ext cx="1089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All links were accessed September 21, 2026.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C4A559-5CBD-4B52-B622-27AA9D9B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52578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19050">
            <a:solidFill>
              <a:srgbClr val="52677D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7F5560-C2E5-4CAF-A7E8-D6312B37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1143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C972C5-179E-4554-B6BE-9C987E1D1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4312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D6D05A-FA7D-4328-89A0-5D458951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Business Model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A71EFF-59EC-43EA-AE2E-A6A2C5F5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4320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investopedia.com/terms/b/businessmodel.asp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DA3DB8-BA7D-43E2-A339-61F9703F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52578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19050">
            <a:solidFill>
              <a:srgbClr val="52677D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4E3F1A-F0D4-4AD5-A452-B9B507BB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1143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5ADBD2-1A2D-4854-BC66-072D43B4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813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6110B6-CB7F-4DDF-BDAF-41342E144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Value Proposition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888F10-6CF8-4443-9DB0-D28FEFB2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8145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investopedia.com/terms/v/valueproposition.asp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EE5449-D71A-43DB-B482-A737F84D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33900"/>
            <a:ext cx="52578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19050">
            <a:solidFill>
              <a:srgbClr val="52677D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92CAF8-968C-4F7C-A99B-0277E4A6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33900"/>
            <a:ext cx="1143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690EA8-5745-4021-A7A6-A266A218C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962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E4D1A0-E6CF-40FC-A491-BAA4AA0C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7680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Target Market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7137F3-19EC-46CB-B04D-ACF5E6E2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investopedia.com/terms/t/target-market.asp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68AE96-C9A2-42B2-8865-B4A50B38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57400"/>
            <a:ext cx="52578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19050">
            <a:solidFill>
              <a:srgbClr val="52677D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62F7C1-3109-47D0-89C4-5906079B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57400"/>
            <a:ext cx="1143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4F6CFF-929C-4A71-92C2-E7A5D78EF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14312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1A867F-B74C-4D8E-8251-D2A7868B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0030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Market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A5B289-766A-43BD-A9DD-D45119DE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74320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investopedia.com/terms/m/market-research.asp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CAF6E8-14F3-42C6-9ECD-B914E982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95650"/>
            <a:ext cx="52578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19050">
            <a:solidFill>
              <a:srgbClr val="52677D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FAF7A8-AE2B-484C-A3DE-75CF20269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95650"/>
            <a:ext cx="1143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60038E-EF87-4C23-A6A3-583F442A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813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DECA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B68C8D-7170-4888-A839-3ADD25D4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6385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Competitive Events Program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153CEB-217B-4A08-B189-6B8E03582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98145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deca.org/compete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FDAD76-3F07-4761-B619-B289A4D8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33900"/>
            <a:ext cx="52578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CFC9"/>
          </a:solidFill>
          <a:ln xmlns:a="http://schemas.openxmlformats.org/drawingml/2006/main" w="19050">
            <a:solidFill>
              <a:srgbClr val="52677D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9CAB7E-C32E-4CED-9165-2C1E2F7B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33900"/>
            <a:ext cx="1143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15F2E6-B3CB-42A3-BD9B-521DE9DE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61962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C5E8CC-BB4E-456C-82D9-FFCC9886D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87680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C2E4A"/>
                </a:solidFill>
                <a:latin typeface="Helvetica Neue"/>
                <a:ea typeface="Helvetica Neue"/>
                <a:cs typeface="Helvetica Neue"/>
              </a:rPr>
              <a:t>Business Plan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C6E0A4-7DCA-4451-9C5D-44A19997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21970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investopedia.com/terms/b/business-plan.asp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4DB3A31-DB7F-4098-B6E1-B39BB63E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29350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defRPr>
            </a:pPr>
            <a:r>
              <a:rPr sz="675" b="0">
                <a:solidFill>
                  <a:srgbClr val="52677D"/>
                </a:solidFill>
                <a:latin typeface="Helvetica Neue"/>
                <a:ea typeface="Helvetica Neue"/>
                <a:cs typeface="Helvetica Neue"/>
              </a:rPr>
              <a:t>Full URLs are also stored in the speaker notes of the slides that use them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2D1CECA-17C0-40D7-BF71-9D6712E5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15100"/>
            <a:ext cx="1219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2E4A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785169-B465-458E-A23B-F667A96E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5913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CAREER CANVAS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58F78B-CF2C-415D-ABB1-C2586BD8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6677025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DC4D4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9686338-F824-4B0A-85CD-307519E8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2375" y="65913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4419239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2026-09-25T01:32:03.1030000Z</dcterms:created>
  <dcterms:modified xsi:type="dcterms:W3CDTF">2026-09-25T01:32:03.1030000Z</dcterms:modified>
</coreProperties>
</file>