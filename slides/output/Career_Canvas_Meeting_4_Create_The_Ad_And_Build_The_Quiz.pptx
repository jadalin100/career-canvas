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9b91e611144a30" /><Relationship Type="http://schemas.openxmlformats.org/officeDocument/2006/relationships/extended-properties" Target="/docProps/app.xml" Id="Rb0f4beb14dbc48c9" /><Relationship Type="http://schemas.openxmlformats.org/officeDocument/2006/relationships/officeDocument" Target="/ppt/presentation.xml" Id="Rb324ff898d854e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f5c0270e094a9c"/>
  </p:sldMasterIdLst>
  <p:notesMasterIdLst>
    <p:notesMasterId xmlns:r="http://schemas.openxmlformats.org/officeDocument/2006/relationships" r:id="Rcb075780235b4998"/>
  </p:notesMasterIdLst>
  <p:sldIdLst>
    <p:sldId xmlns:r="http://schemas.openxmlformats.org/officeDocument/2006/relationships" id="256" r:id="R49d365700da64784"/>
    <p:sldId xmlns:r="http://schemas.openxmlformats.org/officeDocument/2006/relationships" id="257" r:id="R3c38f2199d584c3a"/>
    <p:sldId xmlns:r="http://schemas.openxmlformats.org/officeDocument/2006/relationships" id="258" r:id="R02cdec59d90e4680"/>
    <p:sldId xmlns:r="http://schemas.openxmlformats.org/officeDocument/2006/relationships" id="259" r:id="R0f8e426642c34e61"/>
    <p:sldId xmlns:r="http://schemas.openxmlformats.org/officeDocument/2006/relationships" id="260" r:id="Rafc394f77959451a"/>
    <p:sldId xmlns:r="http://schemas.openxmlformats.org/officeDocument/2006/relationships" id="261" r:id="R968716eeed344ad2"/>
    <p:sldId xmlns:r="http://schemas.openxmlformats.org/officeDocument/2006/relationships" id="262" r:id="R8a7c5e9945944c60"/>
    <p:sldId xmlns:r="http://schemas.openxmlformats.org/officeDocument/2006/relationships" id="263" r:id="Re518c5133e6941b6"/>
    <p:sldId xmlns:r="http://schemas.openxmlformats.org/officeDocument/2006/relationships" id="264" r:id="Re138d7f225294893"/>
    <p:sldId xmlns:r="http://schemas.openxmlformats.org/officeDocument/2006/relationships" id="265" r:id="R29f0cc32489f4c50"/>
    <p:sldId xmlns:r="http://schemas.openxmlformats.org/officeDocument/2006/relationships" id="266" r:id="R19cc29c677e44e52"/>
    <p:sldId xmlns:r="http://schemas.openxmlformats.org/officeDocument/2006/relationships" id="267" r:id="R9389c4a9f1994b03"/>
    <p:sldId xmlns:r="http://schemas.openxmlformats.org/officeDocument/2006/relationships" id="268" r:id="R49bfe382bc5146eb"/>
    <p:sldId xmlns:r="http://schemas.openxmlformats.org/officeDocument/2006/relationships" id="269" r:id="R5eea6cf2a88c4d11"/>
    <p:sldId xmlns:r="http://schemas.openxmlformats.org/officeDocument/2006/relationships" id="270" r:id="R0ca84db2b4ad48a2"/>
    <p:sldId xmlns:r="http://schemas.openxmlformats.org/officeDocument/2006/relationships" id="271" r:id="R6a370501cf724708"/>
    <p:sldId xmlns:r="http://schemas.openxmlformats.org/officeDocument/2006/relationships" id="272" r:id="Re9041ad8fe974b7c"/>
    <p:sldId xmlns:r="http://schemas.openxmlformats.org/officeDocument/2006/relationships" id="273" r:id="R9a90ca96baae48ee"/>
    <p:sldId xmlns:r="http://schemas.openxmlformats.org/officeDocument/2006/relationships" id="274" r:id="Rb532aa4e7b4b436d"/>
    <p:sldId xmlns:r="http://schemas.openxmlformats.org/officeDocument/2006/relationships" id="275" r:id="R2d60568212324879"/>
    <p:sldId xmlns:r="http://schemas.openxmlformats.org/officeDocument/2006/relationships" id="276" r:id="R9e93d3699e9f43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682a110ce04a31" /><Relationship Type="http://schemas.openxmlformats.org/officeDocument/2006/relationships/slideMaster" Target="/ppt/slideMasters/slideMaster1.xml" Id="R7bf5c0270e094a9c" /><Relationship Type="http://schemas.openxmlformats.org/officeDocument/2006/relationships/notesMaster" Target="/ppt/notesMasters/notesMaster1.xml" Id="Rcb075780235b4998" /><Relationship Type="http://schemas.openxmlformats.org/officeDocument/2006/relationships/presProps" Target="/ppt/presProps.xml" Id="R5521429cc7e845c2" /><Relationship Type="http://schemas.openxmlformats.org/officeDocument/2006/relationships/tableStyles" Target="/ppt/tableStyles.xml" Id="Rebdbe183be4346eb" /><Relationship Type="http://schemas.openxmlformats.org/officeDocument/2006/relationships/slide" Target="/ppt/slides/slide1.xml" Id="R49d365700da64784" /><Relationship Type="http://schemas.openxmlformats.org/officeDocument/2006/relationships/slide" Target="/ppt/slides/slide2.xml" Id="R3c38f2199d584c3a" /><Relationship Type="http://schemas.openxmlformats.org/officeDocument/2006/relationships/slide" Target="/ppt/slides/slide3.xml" Id="R02cdec59d90e4680" /><Relationship Type="http://schemas.openxmlformats.org/officeDocument/2006/relationships/slide" Target="/ppt/slides/slide4.xml" Id="R0f8e426642c34e61" /><Relationship Type="http://schemas.openxmlformats.org/officeDocument/2006/relationships/slide" Target="/ppt/slides/slide5.xml" Id="Rafc394f77959451a" /><Relationship Type="http://schemas.openxmlformats.org/officeDocument/2006/relationships/slide" Target="/ppt/slides/slide6.xml" Id="R968716eeed344ad2" /><Relationship Type="http://schemas.openxmlformats.org/officeDocument/2006/relationships/slide" Target="/ppt/slides/slide7.xml" Id="R8a7c5e9945944c60" /><Relationship Type="http://schemas.openxmlformats.org/officeDocument/2006/relationships/slide" Target="/ppt/slides/slide8.xml" Id="Re518c5133e6941b6" /><Relationship Type="http://schemas.openxmlformats.org/officeDocument/2006/relationships/slide" Target="/ppt/slides/slide9.xml" Id="Re138d7f225294893" /><Relationship Type="http://schemas.openxmlformats.org/officeDocument/2006/relationships/slide" Target="/ppt/slides/slide10.xml" Id="R29f0cc32489f4c50" /><Relationship Type="http://schemas.openxmlformats.org/officeDocument/2006/relationships/slide" Target="/ppt/slides/slide11.xml" Id="R19cc29c677e44e52" /><Relationship Type="http://schemas.openxmlformats.org/officeDocument/2006/relationships/slide" Target="/ppt/slides/slide12.xml" Id="R9389c4a9f1994b03" /><Relationship Type="http://schemas.openxmlformats.org/officeDocument/2006/relationships/slide" Target="/ppt/slides/slide13.xml" Id="R49bfe382bc5146eb" /><Relationship Type="http://schemas.openxmlformats.org/officeDocument/2006/relationships/slide" Target="/ppt/slides/slide14.xml" Id="R5eea6cf2a88c4d11" /><Relationship Type="http://schemas.openxmlformats.org/officeDocument/2006/relationships/slide" Target="/ppt/slides/slide15.xml" Id="R0ca84db2b4ad48a2" /><Relationship Type="http://schemas.openxmlformats.org/officeDocument/2006/relationships/slide" Target="/ppt/slides/slide16.xml" Id="R6a370501cf724708" /><Relationship Type="http://schemas.openxmlformats.org/officeDocument/2006/relationships/slide" Target="/ppt/slides/slide17.xml" Id="Re9041ad8fe974b7c" /><Relationship Type="http://schemas.openxmlformats.org/officeDocument/2006/relationships/slide" Target="/ppt/slides/slide18.xml" Id="R9a90ca96baae48ee" /><Relationship Type="http://schemas.openxmlformats.org/officeDocument/2006/relationships/slide" Target="/ppt/slides/slide19.xml" Id="Rb532aa4e7b4b436d" /><Relationship Type="http://schemas.openxmlformats.org/officeDocument/2006/relationships/slide" Target="/ppt/slides/slide20.xml" Id="R2d60568212324879" /><Relationship Type="http://schemas.openxmlformats.org/officeDocument/2006/relationships/slide" Target="/ppt/slides/slide21.xml" Id="R9e93d3699e9f43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dcd8e143e74b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0ae26203b9408d" /><Relationship Type="http://schemas.openxmlformats.org/officeDocument/2006/relationships/notesMaster" Target="/ppt/notesMasters/notesMaster1.xml" Id="Rce883b62421044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8837577f8d4b65" /><Relationship Type="http://schemas.openxmlformats.org/officeDocument/2006/relationships/notesMaster" Target="/ppt/notesMasters/notesMaster1.xml" Id="Ra1fd49f34c714e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c40bcfd77f4413" /><Relationship Type="http://schemas.openxmlformats.org/officeDocument/2006/relationships/notesMaster" Target="/ppt/notesMasters/notesMaster1.xml" Id="R9e97eb91133c48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0291e7b6fe4289" /><Relationship Type="http://schemas.openxmlformats.org/officeDocument/2006/relationships/notesMaster" Target="/ppt/notesMasters/notesMaster1.xml" Id="R16401042e6604d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0f5ccffc9744fa" /><Relationship Type="http://schemas.openxmlformats.org/officeDocument/2006/relationships/notesMaster" Target="/ppt/notesMasters/notesMaster1.xml" Id="R8cdd0bbaf32f40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0cfbbbf40d4828" /><Relationship Type="http://schemas.openxmlformats.org/officeDocument/2006/relationships/notesMaster" Target="/ppt/notesMasters/notesMaster1.xml" Id="Ra84db3b2a0144d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1abb2fa27d4cbd" /><Relationship Type="http://schemas.openxmlformats.org/officeDocument/2006/relationships/notesMaster" Target="/ppt/notesMasters/notesMaster1.xml" Id="R89fc81e340c44f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4000c108cb4285" /><Relationship Type="http://schemas.openxmlformats.org/officeDocument/2006/relationships/notesMaster" Target="/ppt/notesMasters/notesMaster1.xml" Id="R00b1a5a7f59c49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fce274fb1347c1" /><Relationship Type="http://schemas.openxmlformats.org/officeDocument/2006/relationships/notesMaster" Target="/ppt/notesMasters/notesMaster1.xml" Id="Rd323005f030041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94ef9147d842c6" /><Relationship Type="http://schemas.openxmlformats.org/officeDocument/2006/relationships/notesMaster" Target="/ppt/notesMasters/notesMaster1.xml" Id="Rdf47d6b7367247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18a7c55f4f4c19" /><Relationship Type="http://schemas.openxmlformats.org/officeDocument/2006/relationships/notesMaster" Target="/ppt/notesMasters/notesMaster1.xml" Id="R409f49f3cdf841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8d12bb2e534660" /><Relationship Type="http://schemas.openxmlformats.org/officeDocument/2006/relationships/notesMaster" Target="/ppt/notesMasters/notesMaster1.xml" Id="R797e520d52f743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c37e1c0dee446c" /><Relationship Type="http://schemas.openxmlformats.org/officeDocument/2006/relationships/notesMaster" Target="/ppt/notesMasters/notesMaster1.xml" Id="R7515713cd60b4e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88e568c10b34b51" /><Relationship Type="http://schemas.openxmlformats.org/officeDocument/2006/relationships/notesMaster" Target="/ppt/notesMasters/notesMaster1.xml" Id="Rf6c90342d89044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2f0f3476ac4a02" /><Relationship Type="http://schemas.openxmlformats.org/officeDocument/2006/relationships/notesMaster" Target="/ppt/notesMasters/notesMaster1.xml" Id="R7fd3729dacea48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fecf032da24ebd" /><Relationship Type="http://schemas.openxmlformats.org/officeDocument/2006/relationships/notesMaster" Target="/ppt/notesMasters/notesMaster1.xml" Id="Rc63cc492317641b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1860e19409f4932" /><Relationship Type="http://schemas.openxmlformats.org/officeDocument/2006/relationships/notesMaster" Target="/ppt/notesMasters/notesMaster1.xml" Id="R4267258765c1473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f9ddd06ccf48aa" /><Relationship Type="http://schemas.openxmlformats.org/officeDocument/2006/relationships/notesMaster" Target="/ppt/notesMasters/notesMaster1.xml" Id="R601a40355708479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3c1003f05541db" /><Relationship Type="http://schemas.openxmlformats.org/officeDocument/2006/relationships/notesMaster" Target="/ppt/notesMasters/notesMaster1.xml" Id="Rb1426c2b78d74c6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c2455d2d28743fb" /><Relationship Type="http://schemas.openxmlformats.org/officeDocument/2006/relationships/notesMaster" Target="/ppt/notesMasters/notesMaster1.xml" Id="R23515292c69148f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41343b21a634bcf" /><Relationship Type="http://schemas.openxmlformats.org/officeDocument/2006/relationships/notesMaster" Target="/ppt/notesMasters/notesMaster1.xml" Id="R9e0e1d769d5348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showing an ad everyone has seen and asking who it was built for. Push past everyone, then go to the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minutes. The four Ps were popularized by Neil Borden in the 1950s and refined by E. Jerome McCarthy. Services marketing later added people, process, and physical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https://www.investopedia.com/terms/f/four-ps.asp</a:t>
            </a:r>
          </a:p>
          <a:p xmlns:a="http://schemas.openxmlformats.org/drawingml/2006/main">
            <a:r>
              <a:t>- https://www.investopedia.com/terms/m/marketing.asp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Facilitation: 5 minutes scoring in pairs, 3 minutes on the memory test. Put the next slide up while they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https://www.investopedia.com/terms/m/marketing.asp</a:t>
            </a:r>
          </a:p>
          <a:p xmlns:a="http://schemas.openxmlformats.org/drawingml/2006/main">
            <a:r>
              <a:t>- https://www.investopedia.com/terms/d/digital-marketing.asp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which one they could describe correctly tomorrow. That question does more work than any explanation of design principles.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https://www.investopedia.com/terms/m/marketing.asp</a:t>
            </a:r>
          </a:p>
          <a:p xmlns:a="http://schemas.openxmlformats.org/drawingml/2006/main">
            <a:r>
              <a:t>- https://www.investopedia.com/terms/b/brand.asp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who want to switch audiences usually did not finish the target-customer section. Send them back to the paper.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https://www.investopedia.com/terms/t/target-market.asp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student ad that contradicts the real promise is a good teaching moment, not a failure. Surface one if you find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https://www.investopedia.com/terms/b/brand.asp</a:t>
            </a:r>
          </a:p>
          <a:p xmlns:a="http://schemas.openxmlformats.org/drawingml/2006/main">
            <a:r>
              <a:t>- https://www.investopedia.com/terms/v/valueproposition.asp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Facilitation: run it twice, swapping roles. The three-second limit is not negotiable, or it becomes a critique 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https://www.investopedia.com/terms/m/marketing.asp</a:t>
            </a:r>
          </a:p>
          <a:p xmlns:a="http://schemas.openxmlformats.org/drawingml/2006/main">
            <a:r>
              <a:t>- https://www.investopedia.com/terms/b/brand.asp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banned-phrases rule does most of the work. Keep it visible while they write.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https://www.investopedia.com/terms/f/four-ps.asp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beautiful ad with no reasoning gets weak feedback from partners. Say that before they start designing.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feedback submission happens here. Require a specific question rather than what do you think.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According to PubMed, Roediger and Karpicke (2006) found repeated studying beat repeated testing after five minutes, but after two days or a week prior testing produced substantially greater retention, even though restudying made students more confident.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https://doi.org/10.1111/j.1467-9280.2006.01693.x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Percentages are the proportion of idea units recalled in Experiment 1, read from the paper itself. The authors also note the tested group recalled as much after a week as the restudy group did after two days, so one test bought five days of retention. Confidence ran the other way: restudying made students more sure they would remember.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https://doi.org/10.1111/j.1467-9280.2006.01693.x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Facilitation: 3 minutes closed, 2 checking, 2 discussing. Ask who got one wrong and make the point that this is the useful part.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https://doi.org/10.1111/j.1467-9280.2006.01693.x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spot-the-flaw question is the hardest to write and the one peers enjoy most. Give an example from your own business if the room stalls.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https://doi.org/10.1111/j.1467-9280.2006.01693.x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two students swap one question and try to guess the answer without knowing the topic. Guessable means the distractors failed.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https://doi.org/10.1111/j.1467-9280.2006.01693.x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 it at two lines. Students who write a paragraph have written something nobody will finish.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https://doi.org/10.1111/j.1467-9280.2006.01693.x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Enforce the no-asking rule. The moment the author explains, the test stops working.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the exported files now so Meeting 5 does not start with missing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meeting tests the platform's central promise: a student with no coding experience turning original research into a working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if students or reviewers want the research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https://www.investopedia.com/terms/f/four-ps.asp</a:t>
            </a:r>
          </a:p>
          <a:p xmlns:a="http://schemas.openxmlformats.org/drawingml/2006/main">
            <a:r>
              <a:t>- https://www.investopedia.com/terms/m/marketing.asp</a:t>
            </a:r>
          </a:p>
          <a:p xmlns:a="http://schemas.openxmlformats.org/drawingml/2006/main">
            <a:r>
              <a:t>- https://www.investopedia.com/terms/d/digital-marketing.asp</a:t>
            </a:r>
          </a:p>
          <a:p xmlns:a="http://schemas.openxmlformats.org/drawingml/2006/main">
            <a:r>
              <a:t>- https://www.investopedia.com/terms/t/target-market.asp</a:t>
            </a:r>
          </a:p>
          <a:p xmlns:a="http://schemas.openxmlformats.org/drawingml/2006/main">
            <a:r>
              <a:t>- https://www.investopedia.com/terms/b/brand.asp</a:t>
            </a:r>
          </a:p>
          <a:p xmlns:a="http://schemas.openxmlformats.org/drawingml/2006/main">
            <a:r>
              <a:t>- https://www.investopedia.com/terms/v/valueproposition.asp</a:t>
            </a:r>
          </a:p>
          <a:p xmlns:a="http://schemas.openxmlformats.org/drawingml/2006/main">
            <a:r>
              <a:t>- https://doi.org/10.1111/j.1467-9280.2006.01693.x</a:t>
            </a:r>
          </a:p>
          <a:p xmlns:a="http://schemas.openxmlformats.org/drawingml/2006/main">
            <a:r>
              <a:t>- https://www.deca.org/compete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if students or reviewers want the research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https://www.investopedia.com/terms/m/market-research.asp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db5925a8f245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74051dbcce4229" /><Relationship Type="http://schemas.openxmlformats.org/officeDocument/2006/relationships/slideLayout" Target="/ppt/slideLayouts/slideLayout1.xml" Id="R4d855edc1fd645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855edc1fd645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a4f5f67d94c17" /><Relationship Type="http://schemas.openxmlformats.org/officeDocument/2006/relationships/notesSlide" Target="/ppt/notesSlides/notesSlide1.xml" Id="R78dede714cb94d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e699c59df4908" /><Relationship Type="http://schemas.openxmlformats.org/officeDocument/2006/relationships/notesSlide" Target="/ppt/notesSlides/notesSlide2.xml" Id="Rb45774600a1647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91a22190842c3" /><Relationship Type="http://schemas.openxmlformats.org/officeDocument/2006/relationships/notesSlide" Target="/ppt/notesSlides/notesSlide3.xml" Id="R8ca754acbffe4b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d6745c74446a6" /><Relationship Type="http://schemas.openxmlformats.org/officeDocument/2006/relationships/notesSlide" Target="/ppt/notesSlides/notesSlide4.xml" Id="Rf5440da0d30244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fa686a01247bf" /><Relationship Type="http://schemas.openxmlformats.org/officeDocument/2006/relationships/notesSlide" Target="/ppt/notesSlides/notesSlide5.xml" Id="Rfe474b0b56264a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78b6ef801428c" /><Relationship Type="http://schemas.openxmlformats.org/officeDocument/2006/relationships/notesSlide" Target="/ppt/notesSlides/notesSlide6.xml" Id="R360572c12c9a44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5d14018f545b0" /><Relationship Type="http://schemas.openxmlformats.org/officeDocument/2006/relationships/notesSlide" Target="/ppt/notesSlides/notesSlide7.xml" Id="R702e779fc26e4c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b23a7d7d64fdc" /><Relationship Type="http://schemas.openxmlformats.org/officeDocument/2006/relationships/notesSlide" Target="/ppt/notesSlides/notesSlide8.xml" Id="R145e33f408794d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2cbf3f0a0482a" /><Relationship Type="http://schemas.openxmlformats.org/officeDocument/2006/relationships/notesSlide" Target="/ppt/notesSlides/notesSlide9.xml" Id="R47ce83c29ee846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7e03ce2404449" /><Relationship Type="http://schemas.openxmlformats.org/officeDocument/2006/relationships/notesSlide" Target="/ppt/notesSlides/notesSlide10.xml" Id="Rf39d9286ca6f41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43bc8ec8d4311" /><Relationship Type="http://schemas.openxmlformats.org/officeDocument/2006/relationships/notesSlide" Target="/ppt/notesSlides/notesSlide11.xml" Id="Rc98f0ad17e2849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6639ece5d4501" /><Relationship Type="http://schemas.openxmlformats.org/officeDocument/2006/relationships/notesSlide" Target="/ppt/notesSlides/notesSlide12.xml" Id="R386480d00c7d48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18710f94044dd" /><Relationship Type="http://schemas.openxmlformats.org/officeDocument/2006/relationships/notesSlide" Target="/ppt/notesSlides/notesSlide13.xml" Id="R7efbf559d2e841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45fd380fb47e9" /><Relationship Type="http://schemas.openxmlformats.org/officeDocument/2006/relationships/notesSlide" Target="/ppt/notesSlides/notesSlide14.xml" Id="R610b5ddb558e41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9a4b6187c4a92" /><Relationship Type="http://schemas.openxmlformats.org/officeDocument/2006/relationships/notesSlide" Target="/ppt/notesSlides/notesSlide15.xml" Id="R26f4da429eb1414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c2dfa11244e27" /><Relationship Type="http://schemas.openxmlformats.org/officeDocument/2006/relationships/notesSlide" Target="/ppt/notesSlides/notesSlide16.xml" Id="R51f282992ff748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2418b49cb420d" /><Relationship Type="http://schemas.openxmlformats.org/officeDocument/2006/relationships/notesSlide" Target="/ppt/notesSlides/notesSlide17.xml" Id="Rfeb879c40fc447e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6382e2fae43f6" /><Relationship Type="http://schemas.openxmlformats.org/officeDocument/2006/relationships/notesSlide" Target="/ppt/notesSlides/notesSlide18.xml" Id="Rd9a1047bf2664aa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98f8c0bff4db0" /><Relationship Type="http://schemas.openxmlformats.org/officeDocument/2006/relationships/notesSlide" Target="/ppt/notesSlides/notesSlide19.xml" Id="R62ceadec39084da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b5d5bd8aa41b8" /><Relationship Type="http://schemas.openxmlformats.org/officeDocument/2006/relationships/notesSlide" Target="/ppt/notesSlides/notesSlide20.xml" Id="R4e7ac55723ae4c2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6205b29b540a0" /><Relationship Type="http://schemas.openxmlformats.org/officeDocument/2006/relationships/notesSlide" Target="/ppt/notesSlides/notesSlide21.xml" Id="R772e785a6e7d42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0B5B7-98CF-4BD1-9C03-6F92DF7E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7F0C7-D53F-49A3-BF18-62DF1CBA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CAREER DEVELOPMENT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24BD3-43AA-4D39-B1B7-5A5E27B2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00478-36F6-4874-AECB-1EBA2DAC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42875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47A78-815B-4272-AACA-891FDBB7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MEETING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FB48C-C989-47EF-83F5-2FD520A0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9906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Create the ad</a:t>
            </a:r>
          </a:p>
          <a:p xmlns:a="http://schemas.openxmlformats.org/drawingml/2006/main">
            <a:pPr algn="l">
              <a:defRPr sz="4350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and build the quiz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E396F-6395-452A-82F4-961F4002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019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A25EC-3A1E-4C67-9419-2633C792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9810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Turn one audience insight into an original advertisement and an educational quiz people can play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BA7CF-8F8A-4CB9-B121-219EC45A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95925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Designed by Jada Lin and Olivia Zheng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Great Neck South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6E95C-667F-4584-84EA-8094D47B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5626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GREAT NECK SOUTH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9B4B9-1D8A-4DE1-9A0D-A3C74C2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37223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492E43-B23B-47C6-B13A-251A1CE3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An ad is the promotion decision.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A91E9-7EA8-4F2C-9757-0582CDF7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F5CDF-5905-43B4-9683-2B02B789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ONLY THING WE TEACH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5E15C-B549-4C43-A563-98A8845C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07691-0D96-4FD3-AF4E-EE856F52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829A6-C972-4D8F-9BE0-44AC8C3E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1163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4FF84-A1AC-4C9E-A557-7E9CC2E0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333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26248-0CDA-4F8C-948D-2BD7A406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00300"/>
            <a:ext cx="285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894F2-F69D-4F49-BE2A-42971E6C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74104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Product, price, place, promotion. Your ad is the fourth one, and it only works if the other three are true.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C71AF-E84F-40C7-8D52-4D4BC21B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382CF-E35B-4EA7-B2E7-8DE78468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767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WHY IT MATTERS TODAY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F9A2D-D3EC-445E-96F5-912A9D68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11163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ACE56-1047-4A82-84FA-E22D687B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68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Advertising a nine-dollar sandwich as a bargain fails no matter how good the design 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3A2ECD-6BBB-481E-BC26-A9649785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The 4 Ps of Marketing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AE022F-FA99-4311-B1D4-9E5AC082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B5CD9-1AC9-4151-AAB9-D3427A0E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D2A78-3991-4FC9-8B0F-FD8A456E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169BC8-D529-484C-9FF6-FF0F83D5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695565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4B37A8-69F3-4401-AD66-7BF0B966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Judge two real ads before you make your own.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EA464-891B-442D-BA67-15546427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5C741-3BFB-4BEA-A762-B549C401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1 OF 5 · TEARDOWN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DD981-0D91-4EBC-A11D-61CD40ED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AD770-E0FE-4A26-B9CB-28A6707C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8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1EED7-CF32-4F76-96FF-FB0A7ED5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76ADE-BC37-4E9A-9AEE-A049A8C4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36BC2-B027-41C3-A60B-6BF672CF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AB44D-8B4E-4649-8BB1-034DB612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FC128-5002-4816-929E-EA7D0EA7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EEDDA-F032-42B8-8607-5ECD8B7E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For each ad on the next slide, name the audience, the message, the first thing you look at, and the next step.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0F82E-C4F7-4F0E-91EE-D6D93CAF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DF3A7-7E19-45B3-BABB-6B8E5415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3751C-C93D-4D80-B0A1-EEAA3ADD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Score each of the four out of two. Eight is a perfect ad.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F6B67-5D8D-4A5A-AAFD-37CB8EDB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C24CF-3665-484F-BA53-1C7D8E91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6B24AB-F3EC-4FD2-85A7-76F8107B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Cover them up. Describe one from memory. That is the real test.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D3FB6-C474-485A-AD47-A205109D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DD43D8-E3E9-4D0A-8A6A-AC182AC7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B913FE-7B7D-45B6-BAB4-432EAE4E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FA3343-BBE1-4E23-8E84-33D2CDC8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scoring habit you will use on your own 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EB31C4-678C-469A-AFFF-D52340B1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89EDDF-3635-46AB-AFF5-4BA9BC1C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Everything you just criticized, you are about to be asked to do.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243466-52F7-42D9-A026-A96D5C4A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Digital channels let you target a specific audience and measure the result, so the audience decision comes first. (Investopedia)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59BB18-350C-4455-BDEA-C95E8512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Sources: Investopedia, Marketing and Digital Marketing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586B55-13FB-4C77-ACB9-A2036C68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C2A0AF-DC47-475A-A31F-D25EB680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5FEF47-D3CC-4191-9A8E-1C7B93AF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F01CD2-4ADF-4266-A47F-33B82AD9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30667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11B5E1-E3A2-4094-93EB-E89BE0D6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Two ads for the same bakery.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99A93-9131-4803-9FD0-A7737BA3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A5107-9FE9-4636-B2DE-72A06611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1 MATERIAL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5B3D1-50EE-4CC5-8462-9D4DA4F5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Score each on audience, message, visual, and call to action. Do not score them on which looks nicer.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52296-91D9-4DEA-81D7-6C54F0FB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54864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EF62B-CECB-4581-AE3C-190E74FC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548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E4F63-4BAB-4595-9FF4-D3A72FD8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0984C-1BC8-4CD7-8A1D-FEB7865A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54A5E-2D54-4F59-8103-1AFFBACC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7177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Audience: parents doing school pickup nearby.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AD1E4-338F-480D-A647-EF272014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4E62B-26CF-4A4F-8699-FBDE04C7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1472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Message: fresh bread ready at 3 p.m.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FA2F3-0FF7-44D0-96F9-57374B8C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811C1-3FFA-426A-8AA2-ABAF53EA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5767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Visual: one photo, readable from across a street.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4E7825-8236-43D5-8C87-A1808FD9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B0F50-1630-4A19-8358-71C611EE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0062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Call to action: a time and a street name.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D03A3-FB38-46F9-9372-A9C84914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54864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C8F40-137C-4166-AD13-E2C39912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548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ECA8F7-C716-44E9-AC51-991B19CA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00FAD7-5318-4D87-AE2C-540D16AD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003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0379FE-4D28-4DF4-B665-3A8E84EF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7177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Audience: anyone who likes food.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FAB192-8CEF-4CAC-A781-7ABD1872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433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D1349B-510D-43E5-AAD4-75C446BF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1472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Message: quality baked goods since 1998.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5E19CB-B05E-4470-900F-723BF9BF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862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F6C84C-0F57-4A2E-B3E9-29545A75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5767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Visual: six photos and three fonts.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A56DAB-A8B2-4918-B6A1-1447584F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292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851342-2F38-4F18-8D2B-EDDA3688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0062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Call to action: none, or visit us today.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26842E-2E00-4731-AF0E-840C2F5F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Sources: Investopedia, Marketing and Brand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546F53-8D2E-45AE-94F7-872017FF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9723F4-9FB7-4655-B87E-00CA2914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C55014-BBAA-4810-B718-2DFFA9EC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71641B-8DA1-4CD7-A80F-C532E121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72847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BEE366-308B-4FEF-9F30-B6FBD2DF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Write your audience in one sentence, from your own paper.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57AA7-15F5-47D8-AB09-D9398D7D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53D58-8E91-4024-9F9C-B6FDF039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2 OF 5 · AUDIENCE LOCK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3150F-FABE-4225-88B9-B32D055C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EEFF8-710F-45D3-858A-C747B214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FD445-B0AD-49C6-8F88-19380334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42B3D-1E3D-4563-883D-D3F886FE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B9E2C-E36C-4D8B-AD14-353EED54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8EBB5-AFBF-4C9C-AC15-542E66C2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1710C-1DC0-412B-A575-070A705F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340F1-B490-4E9B-94A4-FFA816F4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Open the target-customer section you wrote in Meeting 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AA7FD-BE36-4243-9B29-9E2F4B42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BE98E-C190-450B-8F2E-47219198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D65F4-04DD-4F79-9064-81DDA9E7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Write: age or role, where they are, and what they care about.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CD765-F6F6-4E12-9172-D2350990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CD275-3728-4794-BA0A-F2B65815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FA60D-3179-4E3A-92F0-6D0CF900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Read it to a partner. If it fits them and their grandmother, narrow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7769BD-FFF3-4796-87E0-74BEF87B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7A7B62-85FE-4695-901F-CEB7C8BB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3EB858-A2E2-4D77-8F5E-942273D8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DE5564-B924-4495-9593-D16B237D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The audience line for your 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C79EFF-C666-425A-A6A1-BE9886D8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FDB6FD-2547-46F6-840D-81D5002B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Do not invent a new audience here. Use the one you researched.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27CBD6-6B5A-4897-92BA-19FA455F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 target market is a slice of consumers with shared characteristics, not the general public. (Investopedia)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D39806-9CB1-4811-A17B-C66F2E79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Target Market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A9D141-1C8F-442C-95CA-CE1FB5E9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0AD185-5C71-4C6A-B21B-436A2A9A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3D789B-723C-48A7-A8D8-EF713D9C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9954F0-F201-484E-809A-AB3D342B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3691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2D6A01-3FD4-4ACF-B98A-4ADA6ADC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Get it to ten words and check it against the truth.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0BCBB-CE51-4C2D-B73C-3E62F08A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BCE63-E58C-4FAF-9B85-16E42C4C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3 OF 5 · MESSAGE CUT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815FD-90AA-47F4-AFC1-1FB184B7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D71FB-E968-4301-86A2-72C80831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6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D6BF4-F188-4D0A-A395-AD6EAEB2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E0C8F-A641-44EF-B0A8-81A5364F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A0C13-660A-4660-BAFD-A60AFF69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D0466-DA22-437D-B76A-AC32F68F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0BCFB-B51F-4076-BF7A-89E9CCFA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29206-60A3-4C36-98CA-E65EE7AA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Write what the audience must understand. Any length.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8518B-3244-4479-86C6-7CAF1AEA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D9CEB-1DDA-4B27-9100-D356C717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B29792-9CE2-4AE7-8A26-93692F8B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Cut it to ten words or fewer.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0D13B-DAC6-4F9D-A903-041800DE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80F15-9513-49CD-9A11-6187642A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EFAC3-4412-4D19-A541-759FA0DC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Put it next to the value proposition from your paper. If they disagree, the message is wrong, not the paper.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A8DFC2-3133-4907-8C91-672B9FE7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F5EE82-5019-421B-8C8C-914A6E39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5093AE-B058-47E7-8E54-79D0BC87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4A7504-6D1D-4918-8ECB-59AC5ACA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ten-word message that matches the business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041B4A-0AD1-41CA-9168-7C05FE72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AA8025-CB52-4696-8C69-6C63F3C7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Your ad has to sound like the business it is for, not like you.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438239-7F60-417A-B5BA-AC6CEAF4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 brand is the distinctive identity that sets a business apart, and consistency is what builds it. (Investopedia)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CCF69F-3B73-4564-B384-DB45C990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Brand and Brand Identity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234EC3-61A4-4A11-AD87-DA3778A1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6CAC19-C525-493E-9E99-6C0A7219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0009DA-B9F3-494D-A077-E60A6825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3D822B-6B04-431F-9910-33F7CE12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502384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146300-C31D-4919-BC18-CB1C910E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Show a partner your layout for three seconds.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51E2C-95A8-4997-B992-DD93A91A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1DEEF-830F-4692-ABCD-AD997850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4 OF 5 · THREE-SECOND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3B7B4-F93C-4E0D-AC4A-E8367C89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C3BB2-E983-410C-93D2-5AE0998E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6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534FD-7707-4CA5-9852-D678D58E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1862F-1218-45B8-AEC3-F2D8AF9C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79322-50EF-48CF-B2FE-DF64214F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8E29A-2652-4656-B925-FB0A0126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77C8EC-10D0-4F2D-BA82-6AC4FAE3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F6DC5-6CE6-460D-B0E5-22C19BF9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Sketch the ad on paper. One thing should be biggest.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2CA31-C283-49E4-B6EC-91804FCB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545D0-A992-4C00-A4D5-E3A357A0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922C7-D7D0-4CFD-AF65-CF91F902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Show a partner for three seconds, then hide 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7D2A5-F1B4-410E-A7B3-D2FE090A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DA5E7E-6CF5-4F3E-8FA1-92811D97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CDFF56-B736-43C8-8D8A-20CFDE27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They say what they saw and what they think you want them to do. Fix whatever they missed.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84A37F-2AA3-45DB-AA94-38F7DB35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77C004-06A8-437B-8DFA-36EE9899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8D6D91-F200-4EF0-824F-8314CDC4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8C919-7289-48DA-9A52-7432BD68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layout that survived a real reader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634D09-8332-41C0-8E1B-AFE417F3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61B472-2018-46EA-AEF1-334C781F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Do this on paper before you open any design tool.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084981-291F-492D-8AA7-FEA893CC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One thing to look at first. If two things compete, the reader picks neither.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435543-8F97-42CE-A9B8-EB62C567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Sources: Investopedia, Marketing and Brand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F0C74D-A06F-4789-B25D-EF17F1B4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3DDBF9-FA68-4513-9019-09E12F99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009E9E-5583-4858-94A9-68E39ADE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0F1A7E-DF75-4152-8CAE-05892507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770722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CBF113-E43A-4AD5-83AE-FFDD15B5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Name exactly what you want them to do next.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799F3-BFAB-43FF-97DC-6A7E10C7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71151-DE6C-4264-B0E8-A4523E06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5 OF 5 · CALL TO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90DC6-876A-4601-B498-F980A952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94B9C-A1D3-4A05-88F3-93B705EE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65A14-9DFA-466F-8247-BBD93807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14BAC-FF9D-4428-A276-0688EB68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AB9C0-92D7-4EFA-856F-E8B38741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D8455-CDDD-495B-80C5-3FE8EC60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C1BA6-E91B-4B6F-A400-5881BEBC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3E868-1926-4BD7-92CC-32BC2041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Write the next step: a time, a place, a link, or an 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33E35-F074-4847-8DE8-54854BE6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ADC18-C7CC-468C-B2AC-CBA32296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1D485-F9F4-437A-B769-7A2A9512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Banned: visit us today, check us out, learn more.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124569-D28D-4622-AF5E-A7D0113C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F65AFF-CDFC-49B6-BC79-FBFB11CA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2A48E-B895-476F-8C4A-C50545E5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Ask your partner: could you actually do this thing tomorrow?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9F5B8-2F92-41DF-847E-2C1AA5F7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81F0AA-31F0-4241-BFD3-A7083786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0F43CF-8149-477E-99A4-5A64B4A3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A70810-FA43-4C6D-990F-91FBA856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One call to action a person could act 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434D26-7880-4595-A8CB-CB195AA4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381970-726C-493B-86B9-B419F8B9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This is the line the business partner will react to first.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80042D-EA3C-4456-88B0-90761909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An ad with no specific next step is a poster. Promotion is supposed to move someone. (Investopedia)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F4B174-24FB-4C14-AE68-CA543790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The 4 Ps of Marketing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62A8B4-1854-4E25-AD1F-7A0DC6C9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F93C58-161A-46E6-B9DF-3B8A55F0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39B7D5-0B56-4714-A4F3-D3A5FEB5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D36CE7-4380-498D-AA8E-D18662D5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404217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C2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B6BC0B-D1C9-4EEB-9449-1EF97E59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Make the ad and write the reasoning.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D3535-3B76-45DA-9FC4-A87D06B2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1C16B-0646-4029-8ECD-17F9FA7B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ECAB5-8301-4C0D-92CC-44F3EF12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C190E-6D47-49E8-984D-EF462780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20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A0068-AA47-42A8-99F9-BD5ECC0A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D93EA-3C9A-42D2-AF7E-9FD45BB5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BUILD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7EF82-890C-47D3-81AF-EA44B5DE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D06CB-F241-4B6D-BFBA-FCFDFE5F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B7FC1-B296-4047-BF70-369032F8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47925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Pick a template and drop in your four decisions.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055ED-3FCB-4828-9734-3DE64F05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B1E05-E0C1-482F-BB84-500FEC20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C9D9F-44C5-456E-973E-58C576F7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76600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Cut anything that is not doing a job.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61DE3-A311-4DAB-87B8-C7A77F13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3B9DFF-C962-4B5F-A6EA-8290D63E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1AFE1-013B-4ABE-8801-975ED10E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05275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Score your own ad out of eight on the four decisions.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5C23C-F5DF-4785-A6DD-AB44B652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48225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7AE12-B5AC-436F-B858-B132BEE0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62525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460F7-D3B4-4949-B582-4AC44717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Write three sentences: audience, message, call to action.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CE11C7-FBED-4087-ADFA-99F4D870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90700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F8B64D-CDFC-4E18-9604-EF4C5220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DELIVERABLE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F68C46-17F6-4B27-A6A6-A0524EE3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86000"/>
            <a:ext cx="28003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D1CFC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628681-B809-49F8-BB97-EE735E91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47950"/>
            <a:ext cx="230505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One ad</a:t>
            </a:r>
          </a:p>
          <a:p xmlns:a="http://schemas.openxmlformats.org/drawingml/2006/main">
            <a:pPr algn="ctr">
              <a:def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plus your</a:t>
            </a:r>
          </a:p>
          <a:p xmlns:a="http://schemas.openxmlformats.org/drawingml/2006/main">
            <a:pPr algn="ctr">
              <a:def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reasoning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162472-6BE8-4A0B-9FBC-AB14E061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910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EE5DF8-8835-48A4-ADE2-E5ADFF48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91075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The reasoning is what goes to the business.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368FF8-0860-47D3-9C55-F5357EB6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Career Canvas Meeting 4 build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16AEC7-4657-4258-90EA-DEA989C9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582EB6-E6DA-4A1E-A243-B5CCA27C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F48696-33EA-4A6E-9700-8E3D23A3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A4553C-654D-4FB9-B4C9-F1E7159B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960892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AA630A-BF2E-4229-BB94-1DEA9C9C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Send it to the business with one specific question attached.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64908-B9CE-433D-AAAB-E1D4F4DE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7C04B-9E56-481D-A3EC-326A7175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3DF43-EF77-4770-9DBE-53EFB0AA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5448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4E88F-8B4B-440F-B6B7-F87B4A1C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EXIT TICKET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31C36-83FB-4988-BE7B-FCA8BF92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54483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1FB1D-5679-48C4-BD05-82492C8B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61C79-F013-4DA6-ABB6-DCA475F7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4317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Who is this ad for?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80AC8-401A-4BD0-8377-E1216E58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9E28F-0191-4373-A8B8-3C2B23DB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05200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What do you want them to do?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86E7F-8D89-45C0-A2EF-F362AE09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B3209-36CB-4534-9360-50A84F50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6722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What would you test first?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1FF83-A3DD-456A-869A-5AA23E0D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48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5AD87-EE02-4B93-B57B-73ED4CDF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518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NEXT MEETING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95360-7BCA-47B3-9742-CADB56B9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54864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506634-B893-48D9-90C6-37674D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Build your quiz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DE829-E0DC-4315-AAEB-072A2F75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62375"/>
            <a:ext cx="468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E68127-CEB5-47BD-90E9-A52D61C5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10025"/>
            <a:ext cx="4724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Turn what you learned about this business and its industry into a quiz other students can play.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65CB5-D011-46EE-90D4-A8BFF873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 Meeting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432E54-6523-4101-A0B0-40B217C3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087A3B-E65E-4C6D-96A5-4E1FEB90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B8504-F36F-4358-95E1-9C0120AC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219656-B2BF-41B1-B41B-36831030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239557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751294-FD28-40FD-A394-3648D5D3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Being tested beats re-reading.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3A01E-95F9-408D-962A-00984EFC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2087C-4FD3-4445-B323-698662E5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ONLY THING WE TEACH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AE8C8-66A4-46F4-A6E8-FFB5E986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97621-DF8E-4BFC-999F-6E7B59D8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3EA07-C37C-43AA-A26D-D26B573E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1163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54DD2-CB04-4F87-B4CC-50948FE8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333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2006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7B5BD-20DF-4EB8-B01C-2565F832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00300"/>
            <a:ext cx="285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94586-BF8C-4505-8BEA-B3E7B883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74104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Students who took recall tests remembered substantially more a week later than students who restudied the same material.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AE0EF-CB76-4876-943F-F71D07B8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99BEF-8502-4D1F-B86E-3EBCE84B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767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WHY IT MATTERS TODAY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8BA4D-7C60-48F7-8B61-2DBF1A3F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11163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3186D-3C69-4C81-A436-2D5B97C8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68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So the quiz you build is not a decoration on your research. It is the thing that makes someone else remember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FB9A2-077D-4D8D-BB27-015D62BE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Roediger &amp; Karpicke, Psychological Science 17(3), 2006, pp. 249-255, via PubMed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C6697-A918-45B9-A6AB-EB8C6456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7503DE-4EC7-4F1C-B53A-DE37878F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51BBCE-3597-4DBD-9DB3-7F8DDC43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6CC33-141A-4117-9D82-94B30310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373511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F05500-E994-4CAF-9D96-57A4D1F5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Testing wins, but only after a delay.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E77BE-C71D-4834-AF29-A3680D4D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76A42-DC2E-46E7-80F7-E091D44B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5C038-433F-45CE-97CB-83829DB0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Roediger &amp; Karpicke (2006), Experiment 1: students read a passage, then either restudied it or took a recall test with no feedback.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04871-AE07-417C-BFDA-799C1D23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733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8E92D-0C71-48A5-ACB3-4DB49AE1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6991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RECALL AFTER STUDYING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2B8BF-FF54-491C-BB22-46434D37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7334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D5E04-1CEC-4C07-8D06-E8731E2B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29175"/>
            <a:ext cx="655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9F437-BE94-4FE1-BC02-550EC05E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575" y="2781300"/>
            <a:ext cx="495300" cy="20478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92F24-9FED-48C8-BC78-6EF50C76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375" y="24765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81%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0738B-7508-47C1-AE41-74953DA2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275" y="2933700"/>
            <a:ext cx="495300" cy="1895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84981-E190-4DD2-A67A-3F2E357B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075" y="26289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75%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5489D-2C17-4090-8C5A-B9E2947A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62525"/>
            <a:ext cx="218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After 5 minutes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E55A8-EBC9-4C77-811A-8386A3D4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467100"/>
            <a:ext cx="495300" cy="13620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FFB09-7BF7-4DBD-AB39-157A3AA7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1623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54%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B6DDAA-07AC-4790-A88C-079F2406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14675"/>
            <a:ext cx="495300" cy="1714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C93FC5-FCBE-4FD3-8107-79CB09EC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0987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68%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74A47-E69B-42BE-BCE3-92B13F6E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275" y="4962525"/>
            <a:ext cx="218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After 2 days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7AD44D-4E1A-47C1-844A-98DA48E4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4375" y="3771900"/>
            <a:ext cx="495300" cy="10572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E7E94D-1644-4DEB-BC9F-1AD3AC8F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8175" y="34671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42%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9E250C-B905-4097-B0AC-EBC27829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075" y="3409950"/>
            <a:ext cx="495300" cy="14192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8FA454-26B0-4AB2-B1EE-CC75D721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875" y="31051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56%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C7EAB7-0B3F-4917-A8F6-422EAF81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675" y="4962525"/>
            <a:ext cx="218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After 1 week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5B642A-83FF-414D-BBCF-4C62EE4F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6257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A3D31F-BCB7-4A8F-AB46-9D9B5F2C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3435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Restudied the passage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041427-54FB-4DAC-8019-37F1325B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36257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98F495-94CA-4B25-ADC9-E42474E3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3435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Took a recall 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0894E5-E3AC-496F-B36B-3EA6A71A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19300"/>
            <a:ext cx="3638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1C064F-CD98-4CD2-A9CE-5F9747AF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145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IT MEANS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8048FF-B1E0-45CD-A3F7-506B80A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36385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06F608-5282-4655-8D59-6367C041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57500"/>
            <a:ext cx="306705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Restudying wins the first five minutes and loses every delay that matters. Your quiz is built for the one-week column.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F10272-54DF-4420-B461-85EBD673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Roediger &amp; Karpicke, Psychological Science 17(3), 2006, p. 251, via PubMed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4ACB60-C7C7-46EF-A792-D7CDB346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314403-54FD-484F-AEBF-D7FC0AED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4EAD5D-3BB6-447C-B715-BE74A1DC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AB5238-F5E5-40C3-AE69-FA51E368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942934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1AD2C8-F754-476C-8340-06F311C2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Write three questions without looking at your paper.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0B9A6-9B87-4BF9-B772-8046700A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59185-441A-4F12-B22F-E24CC9D4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1 OF 5 · CLOSED 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4C3BB-CC2D-4B84-99E3-B2DED717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2F7AB-959F-4A07-A4DA-9A7FC801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7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9AAE8-94B7-44DD-B41E-FB60A115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925BE-C345-4ABA-BC6F-62505A49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F36F8-87A0-4A42-85C2-37BD0EE3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0F6A1-AB31-429F-AE18-126970B6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8701D-A0F4-4B22-AB57-0FF4B888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82435-F869-4F5D-BC75-C6FFC10A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Close the paper. Write three questions you could answer from memory.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91EF2-AB73-4E55-8529-E463278B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36179-A5C8-486F-9D69-10EC4C9F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4D7A6-BE61-4B2D-8B6B-99EC4D75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Open it. Check whether you were right.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9B8F3-7E36-4780-8141-CB2F1F67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AD968-2412-4C7C-82D0-7D5CC6A6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6B48F-E473-46F1-A7A5-43F77439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Anything you got wrong is a better question than anything you got right.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032CAD-E9F1-4B73-B57A-0C2C7209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ED003-E275-4F74-92BB-2339D160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CA4310-964D-41FA-8C7B-0F264BD3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9C3AA0-9358-4F91-92EA-1674696B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Three questions grounded in your own research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C101D8-DDD0-45F5-A059-BFECC2D7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289DD6-4B29-45D5-8B71-92BDD1A3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You just ran the testing effect on yourself. That is the design brief.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8ED4FC-D2AC-4EB9-8A48-6812948C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Recall without the page in front of you is the effect the research is actually about. (Roediger &amp; Karpicke, 2006)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5026A5-A420-4120-8B0E-85F673D8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Roediger &amp; Karpicke, Psychological Science 17(3), 2006, via PubMed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F62F42-1842-4B85-B7AE-1BBB7F8A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CEC55A-3F9E-44B8-A6C6-AA9D903D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91ED04-5EF5-4D09-B795-EE41A768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D67ACE-4C7A-4DDC-B417-3AEEEAAF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815279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7BD70F-5759-40A5-9DC9-06E4780B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Write one question of each kind.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12284-5543-484E-9A36-85F0E18F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BFE78-40D8-4298-858A-C03555F3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2 OF 5 · MIX THE TYPES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D271A-C87F-484A-A75A-A0B5DE46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0826B-51A3-49C6-8C37-C282FE77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8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57645-346A-43AA-A1DB-2B94FC9D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57B1C-68F8-4B58-80B2-3F558F3D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851C9-AB13-427E-9FEF-668990F8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1575F-1308-4B55-8BE0-BE6CF3DD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E250C-EF2A-40E9-9F9C-3D56D6AA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9F275-2C3A-4D86-B500-D2CBB473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Recall: can they retrieve the fact at all?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C7E7E8-68B9-47F9-94FF-46F453A8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02C35-9F21-475D-9591-37E92BCA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E67DA-C475-4238-8B38-F8F221B5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Apply: given a new situation, what would they do?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D46AE-D183-4936-B9B9-3B29784A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C0360-F34A-4608-91FE-B7855105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53F515-4A80-46DB-A229-B8594FFC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Spot the flaw: what is wrong with this business decision?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8AA15-9627-4495-90CD-F06D1D93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D1A19F-85B9-4070-8735-C641BA6B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46BF14-6538-474D-A791-26437440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A22D6-5778-48D4-B828-D7D857F1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Three questions of three different kinds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DC6CD5-11DF-4D24-BF5E-30A39932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6FCB45-2E26-4537-BCCE-8C5D7D30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 quiz of pure recall is a flashcard deck. Mix 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1A0E59-92CE-4DB1-9432-4D1CA3B2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Recall questions carry the memory effect. Apply and spot-the-flaw are what make it worth playing.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6E45E1-A481-4C57-9A31-FB346AEF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Roediger &amp; Karpicke, Psychological Science 17(3), 2006, via PubMed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B9296C-2D54-48D4-ABCE-59562511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AD2782-2F9B-43D0-B165-393E2C6D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B7DB11-7AB2-4C47-A7F8-9833B150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A24A88-585F-4D12-895E-376EC0D6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774499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6F79DA-385B-4D08-A0EF-F42F8EBE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Make the wrong answers hard to dismiss.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DCCB4-22D8-4A58-A8EE-68547DC9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BF99D-C0CA-4959-8FF4-E8975167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3 OF 5 · DISTRACTOR WORKSHOP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00FDB-E76E-4D30-9A09-A893C14E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44EB7-463D-4CAE-8986-28BA46E8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7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76E47-CD74-432C-BB01-8C6C2C19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ECC50-F387-4BFF-920D-7C5AF77E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62410-F341-4786-BA57-A5624A21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EB965-AAD6-446C-9C24-9CAB822B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15B76-A870-4C58-99EE-AE85E88A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B2C88-1CDB-4988-995C-B1E2A36E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Take one question. Write three wrong answers.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F2508-3E37-469C-90E6-E06607E2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F5C40-E782-4E29-9144-561C6A49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5EFD0-EAC1-4D89-B6D3-C3BBE1E4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Cross out any that are obviously jokes. A silly option is not an option.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10CE6-023E-4E81-AB7C-F536AAE3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B5121-A8EF-448D-9462-A8C17363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B241E-D134-4397-9DCA-08BCEADA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Each survivor has to be something a reasonable person might believe.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781423-3AC1-4046-BFB2-BF6FDB6A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74ED3E-E368-4890-AD97-E75DBA38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539103-8B54-4D45-AB66-D01BA1D7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D7C9E8-1B21-4058-9AF1-30C6446E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One question with three plausible distractors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F9BD8-8C9E-44D7-A913-2EC3AB7F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736F1A-C7C1-42AC-B4E1-1A5C94A4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This is the single biggest difference between a real quiz and a filler quiz.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668250-1E36-416D-AC74-7BA84039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If one option is a joke, your four-option question is really a three-option question.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51D6D4-86B8-403F-96F4-B2C0FBE3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 quiz-design bar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C125DA-ADF8-48A8-844A-CD76FB04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17CE47-31D3-4BB8-9E34-19E2EB57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9A8B88-EC68-4083-A68A-3E7F991F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E725DD-D02B-412D-91C6-B025730D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907658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ECC673-26E6-454D-8898-1136EEE8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Write feedback that teaches, not feedback that judges.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03EF7-59C3-4022-8464-55025E7F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F2DDD-7F33-4EC1-BE07-45CB3F5F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4 OF 5 · WRITE THE WHY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D0CFE-2196-42BF-ACDC-B6037F91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120BD-2B53-40AD-8471-259E2C50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7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AFBA8-54E1-4681-9561-43A02CC6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8B3E2-5BB5-416C-83E4-D3B4035C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945D4-6B93-4C7B-B892-7B786EFD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A66AC-BEEE-42F6-AFBC-8FE31D0F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C4E86-A0A3-4DB4-A28F-0D9C6EEA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A0393-C5C4-4778-9884-8D3D244C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Pick your best wrong answer. Write why someone would pick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53B72-402E-45CA-A6B8-C0631F95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35F5B-3B89-419B-B466-C2FCF6BC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F4517-1064-42FB-B436-B80204C0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Write why the right answer is right, in one or two lines.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B1937-82BD-4219-88C1-CD17CD7E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E454D-7E83-4D27-9496-AC6AC67C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BF9A18-499C-4909-AD85-14C8766D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Add one fact the player did not have before. Then stop.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06D18C-190B-4FAE-A006-4A489207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2FD371-7745-4FA9-B7C9-F1E298EE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9E4516-034F-4053-8239-2D31789F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2AB307-EDE8-45A3-B945-BABE40CA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Feedback text for one whole question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63AD1A-ED04-42BA-9ACA-2F92FF5E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DFA4C2-CE57-4713-8BB7-497B0F31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Players read the feedback more carefully than the question. Spend your effort here.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F5B442-0ECE-4B35-8BCE-D72A028E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Correct with nothing else, and try again with no hint, are both wasted messages.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6312F2-9DE1-48CC-A2A9-2C1C91C4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 quiz-design bar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398337-DD0E-4D58-8BD2-C8BE743D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48CEF2-B0B4-456D-886E-54FC5FD4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5E2E4C-7BBE-404E-AD12-1878F443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F6A63A-9327-4CCF-B9BE-B3478165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959096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F60944-3A1C-4EA9-8D30-1F075C24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Hand it to someone and watch it break.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E394D-569F-4AB8-87F7-DDDD162F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2BBB7-53FB-4B22-BF54-0160AC63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5 OF 5 · PEER 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2B6F8-0919-4408-B678-97D0367E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61CBF-ADE4-4826-9771-74373A60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10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C6A08-E442-45B1-A55F-7810198F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41302-705D-48F8-B4D6-9DA03810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E23AA-3AD7-495E-AF5D-9C0D30BF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B065F-9284-4E8E-824A-A7B8FD43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B3285-CAD6-4C34-8319-221373FD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0F285-CB99-4D05-8F94-7544EDC9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Swap with someone who studied a different business.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591B39-697E-46A9-A5F1-825465FD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891DF-D232-48DF-9441-B7B3F0D4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990C7-F485-4923-900B-21EC93E6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Play the whole thing without asking the author anything.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8A560-3578-4DCB-964B-2F5ECC37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C3F28-76E3-4B59-814C-1BAC6231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63640-DAD2-4F24-BA5E-6F3A5594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Log every question you could guess without knowing the topic, and give back one fix.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B6025-84D9-4A0B-9A37-4C9AFA51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4EC30C-A15D-4933-A9D1-4E9B10C8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3C24B8-5DD4-48BF-B034-5082E8C8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C54B6C-EFC4-49F7-B651-0D776E99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list of what broke, from a real player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1E1F21-14B3-4DBB-A68F-3AA4F40D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641DB1-46FE-4774-9912-8330E598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Guessable questions are the most common finding. Better a peer finds them than a judge.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F44452-C69F-4A49-994E-BC592359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 quiz a stranger cannot play alone is not finished, whatever it looks like on your screen.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C18B52-9EE0-477E-BF02-B503963E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 quiz-builder acceptance criteria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0A1781-9B33-433F-9F2D-5AE474BF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B43A3C-D873-4157-93B0-308C644F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3D797E-C5C4-46AA-9128-A543C8F8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84B144-8DAF-4886-876C-781BE849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174138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C2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48557E-3F1E-40A4-A513-E996B412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Ship the quiz and fix what the tester found.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A19D7-1905-4FAE-B4D4-99745C6B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53629-9B2B-483A-9647-7BF4BFC0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096F0-9F57-4EF5-B64E-968DBC21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08B2F-CF4F-45FF-A977-855087D4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18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6B585-DECD-4042-8D12-2FAAFBFE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07223-9423-49CF-AA0E-F0B36A09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BUILD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2BA8C-E2C6-4F72-987E-879593AF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A732A-836A-4532-9AE7-C26B50C2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05630-12E5-414D-A773-D508B2B7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47925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Enter your questions, answers, and feedback in the builder.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C6449-3D00-488B-8B89-4332E196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E1047-1E3B-4DD4-B17D-68A60A43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AB3644-EA97-4223-AE08-818530F6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76600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Set the title, introduction, and audience.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77FEA-026B-4078-AF83-E80DE061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A1B05-A786-480F-BB4B-45E37F11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89916-1C3A-41C2-A8C8-B6566B23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05275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Generate it and play it yourself start to finish.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58D3DC-45C8-49B7-97A4-9DD589DF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48225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9C68F-330A-498D-988E-35647A71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62525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30ED08-2938-48F1-BF06-81990B02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Apply your tester's fix and export the file.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545940-2F2C-4582-A237-07140D7F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90700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3A8ED2-2E55-45BD-8D41-665D8E7C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DELIVERABLE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DA6504-4D89-46F7-8FC7-2CE54CDA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86000"/>
            <a:ext cx="28003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D1CFC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244C4A-1180-444E-A017-8C953A25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47950"/>
            <a:ext cx="230505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tested,</a:t>
            </a:r>
          </a:p>
          <a:p xmlns:a="http://schemas.openxmlformats.org/drawingml/2006/main">
            <a:pPr algn="ctr">
              <a:def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playable</a:t>
            </a:r>
          </a:p>
          <a:p xmlns:a="http://schemas.openxmlformats.org/drawingml/2006/main">
            <a:pPr algn="ctr">
              <a:def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quiz app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C4FF01-CF10-4A12-983A-773A0982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910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13D578-664F-45A0-8C79-A8A70E3B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91075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Five questions minimum, exported and working offline.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B545B1-6601-44B7-BF6B-83F7623D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Career Canvas Meeting 4 build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6276C2-26E3-4753-8899-2E62A375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0357FD-EE30-4556-8B64-56E158D3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B4EA4A-CF00-4A9B-BA17-15370E02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DD6D8D-3839-4707-AB4F-48406EBE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469149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8FE6F1-A168-4CAF-8A7E-4714319C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You built something other people can use.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C695C-07CA-4D2A-A856-BF240A68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266DF-802E-42F3-B62E-A975799C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A4696-DC84-4ECF-B1EE-D9D61694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5448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506AB-ECCA-4F42-9E3E-E9792F73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EXIT TICKET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3945D-5070-40D6-962F-27CE10C6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54483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54E2C-BA9B-4BD5-BC6A-883994E1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63916-703D-470B-A1D5-ADF542AA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4317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Which question was hardest to write?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2E188-27C1-4125-8F8C-6F41F9F5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B182F-B832-4AEF-8F5C-995B449B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05200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What did your tester guess?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814F5-3E1F-426A-BC69-73C9C1D2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31696-2F20-4A70-BAF8-88D233B8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6722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What did you fix?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718C8-B015-4D51-B66C-DCCCD9F8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48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F4B9F-0629-4231-B032-498D1F1C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518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NEXT MEETING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9A044-5FFF-4631-9730-BB601AE2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54864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359AB-2E6B-457A-B8EF-A55CD503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Showcase your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245A9B-6BF5-42F4-A2C4-A84751A4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62375"/>
            <a:ext cx="468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BD1B8-791F-4BB6-99C3-AFD9828B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10025"/>
            <a:ext cx="4724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Put the paper, the ad, and the app into a portfolio, write the skills resume, and rehearse sixty seconds.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C7A51D-ECBC-4A98-8077-F928BC1B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 Meeting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E47930-BB70-4A89-AD85-EE799499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7CB725-E172-4B47-8EB0-0EB0D3A1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0F4E81-5205-4C9B-80E9-F7058381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E3D580-7ED7-455A-BF10-C9852BA4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87826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3EEC3C-A499-4914-84F2-EA070D3E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Research used in this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22138-FD9C-403A-B1A9-EAF6CCD5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484AA-C43E-4B4F-8DCD-091DDC76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SOURCE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29A6C-1AF6-40A5-85C8-CB5767E8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All links were accessed September 21, 2026.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CB462-C4F9-498D-A54C-E232EE91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5257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6643B-0441-48D0-A582-B7037B0B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114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D68C6-C85C-428D-898A-6E29BF9A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0FA8B-7D0C-4406-B1DD-1A2DC106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The 4 Ps of Marketing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19E34-0B2B-4DD9-9CAA-D3EE7750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investopedia.com/terms/f/four-ps.asp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36016-1B1F-433E-A460-29CA6C79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57525"/>
            <a:ext cx="5257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7AB1B-F9D2-4932-9C47-D4CD7734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57525"/>
            <a:ext cx="114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AE5EA8-6311-42D8-83F5-E04454B6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F854D-763C-4843-A8DC-1E9A7E43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Marketing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69F86-9181-465A-B602-AC3A003B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investopedia.com/terms/m/marketing.asp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14A5B7-6DA3-409B-B05D-5D61F895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5257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9AEDE-4CA6-49A2-BFA1-4AA9A449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114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9E531-6650-4E7C-84FB-3FD9E98F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BA73F7-4BB8-46D0-8D1F-F2802308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Digital Marketing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9D26A7-EAF5-4FBC-AD26-05B0C868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investopedia.com/terms/d/digital-marketing.asp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F9693D-A1A0-4D6F-8591-15314F41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5257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241281-979B-4E97-80B3-B7517DBA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114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7388A6-1D1B-463D-8D21-42819BD7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17F66E-F832-48EE-AC16-4313F531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0067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Target Market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073651-7613-422A-8FFE-A333C486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435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investopedia.com/terms/t/target-market.asp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EAE16D-73F7-41CA-90CC-5FBDFF98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57400"/>
            <a:ext cx="5257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2D9F2E-0EAA-4A6D-825A-486E1C5B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57400"/>
            <a:ext cx="114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3AEE90-1AF8-4F5D-806F-85035CA5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431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062FEA-1F7B-42A8-978B-89EF2BAE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003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Brand and Brand Identity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92AE28-CF1F-443F-B75C-C82E6A9A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4320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investopedia.com/terms/b/brand.asp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A07A81-A752-4A50-A2B5-F1A43BDB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57525"/>
            <a:ext cx="5257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A0C78F-1AE8-4D46-9F07-9FB250DE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57525"/>
            <a:ext cx="114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ED49F6-7405-4357-8418-B134A544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432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A20660-D2A4-407E-8778-2E147EE8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0042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Value Proposition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B0AE00-50CD-4EFA-AADE-C24EDBD6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433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investopedia.com/terms/v/valueproposition.asp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012984-B456-446A-AC88-D90238D2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5257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F0EBEC-AD22-46EF-91CA-A4DE1961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114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61272F-6004-4914-9C6A-FC2EEB61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433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Roediger &amp; Karpicke (2006)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12C717-914E-4499-A0A4-A1AD9F06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005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Test-Enhanced Learning, Psychological Science 17(3), 249-255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BB2692-14AE-4E4C-85F4-D07ED112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4345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doi.org/10.1111/j.1467-9280.2006.01693.x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5D9199-A949-40C5-B23A-00045916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57775"/>
            <a:ext cx="5257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3E6106-76C7-46A6-AAC7-EEF620F3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57775"/>
            <a:ext cx="114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2F7EDA-370E-456A-B3EA-76E081CF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1435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DECA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E18CF0-7BD0-423F-8D13-AFBDD04B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40067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Competitive Events Program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337FF2-708E-4507-9C51-4038D50E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7435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deca.org/compete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890E81-B790-4473-8321-1625457C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Full URLs are also stored in the speaker notes of the slides that use them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C52D12-9404-4781-81BC-5A3658CE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91A06F-B822-41C7-8EF9-8DB71194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827D79-9B3D-4CB7-9942-189E4DE4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94B2F8-9657-409F-938D-569B8922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520978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B58ADB-F900-4E46-96DC-58AE0679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Research used in this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325DA-A520-4B7A-99D4-7EE02FB7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094D9-DA84-4305-8492-25F9F483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SOURCE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CBFBE-A9C8-43A5-9DF9-B3E75586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All links were accessed September 21, 2026.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EEA70-8038-4225-9051-58CA91FA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94F71-E87F-4A22-AC30-62914FAE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114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2CE9D-9ED2-4459-BE71-58DC3661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DA01F-5602-4AA8-A2A6-1A69723A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Market Research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3D3D5-AD39-4F2E-8217-CBFCD9FC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investopedia.com/terms/m/market-research.asp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B9E75-6B55-4CED-A801-F4BEE596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574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E49E5-EDFF-4D28-A24C-332F79D7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57400"/>
            <a:ext cx="114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FE032-483D-4F7D-90FE-41E209B3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431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Purdue OWL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061BE8-5B52-4CA3-A35C-1DC67C7A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003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Evaluating Sources: General Guidelines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69588-4047-404A-8BBD-A415DC17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4320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owl.purdue.edu/owl/research_and_citation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12DF8-C16F-42A3-A052-5F8FEF57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Full URLs are also stored in the speaker notes of the slides that use them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B22B0-44A6-4FD7-BBD3-43339F2E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37DE6-7DCF-4A95-8241-70E55778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8029EA-0D40-4973-9B8F-FA3A2258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0C14B-A3FB-4EB7-AA60-D0EDBDFB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305130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2026-09-25T01:32:36.9130000Z</dcterms:created>
  <dcterms:modified xsi:type="dcterms:W3CDTF">2026-09-25T01:32:36.9130000Z</dcterms:modified>
</coreProperties>
</file>