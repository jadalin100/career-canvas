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404e52b3749e0" /><Relationship Type="http://schemas.openxmlformats.org/officeDocument/2006/relationships/extended-properties" Target="/docProps/app.xml" Id="R58d04eda7c3349b0" /><Relationship Type="http://schemas.openxmlformats.org/officeDocument/2006/relationships/officeDocument" Target="/ppt/presentation.xml" Id="R40e504b049f0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80b9a40bd4692"/>
  </p:sldMasterIdLst>
  <p:notesMasterIdLst>
    <p:notesMasterId xmlns:r="http://schemas.openxmlformats.org/officeDocument/2006/relationships" r:id="R8cdd783b9aac44f1"/>
  </p:notesMasterIdLst>
  <p:sldIdLst>
    <p:sldId xmlns:r="http://schemas.openxmlformats.org/officeDocument/2006/relationships" id="256" r:id="R5e63099a5562449b"/>
    <p:sldId xmlns:r="http://schemas.openxmlformats.org/officeDocument/2006/relationships" id="257" r:id="R85e3c3465f694eae"/>
    <p:sldId xmlns:r="http://schemas.openxmlformats.org/officeDocument/2006/relationships" id="258" r:id="Rc1e4713360a64fb5"/>
    <p:sldId xmlns:r="http://schemas.openxmlformats.org/officeDocument/2006/relationships" id="259" r:id="Rc4ba6b5253fb4d6b"/>
    <p:sldId xmlns:r="http://schemas.openxmlformats.org/officeDocument/2006/relationships" id="260" r:id="R647a51cb89254cbc"/>
    <p:sldId xmlns:r="http://schemas.openxmlformats.org/officeDocument/2006/relationships" id="261" r:id="R5653d118c20843c6"/>
    <p:sldId xmlns:r="http://schemas.openxmlformats.org/officeDocument/2006/relationships" id="262" r:id="Rcf2fb2d296b644ee"/>
    <p:sldId xmlns:r="http://schemas.openxmlformats.org/officeDocument/2006/relationships" id="263" r:id="Rc05765058806411e"/>
    <p:sldId xmlns:r="http://schemas.openxmlformats.org/officeDocument/2006/relationships" id="264" r:id="R145d74d6846a4a86"/>
    <p:sldId xmlns:r="http://schemas.openxmlformats.org/officeDocument/2006/relationships" id="265" r:id="R6d2448af6a014fb9"/>
    <p:sldId xmlns:r="http://schemas.openxmlformats.org/officeDocument/2006/relationships" id="266" r:id="R26692748287c426c"/>
    <p:sldId xmlns:r="http://schemas.openxmlformats.org/officeDocument/2006/relationships" id="267" r:id="R4c4881d4b1ee438b"/>
    <p:sldId xmlns:r="http://schemas.openxmlformats.org/officeDocument/2006/relationships" id="268" r:id="R2077c1c9585c444e"/>
    <p:sldId xmlns:r="http://schemas.openxmlformats.org/officeDocument/2006/relationships" id="269" r:id="Rc698b82c5bc04814"/>
    <p:sldId xmlns:r="http://schemas.openxmlformats.org/officeDocument/2006/relationships" id="270" r:id="R49ec8a2df9c843f2"/>
    <p:sldId xmlns:r="http://schemas.openxmlformats.org/officeDocument/2006/relationships" id="271" r:id="Raf197540cfc3448d"/>
    <p:sldId xmlns:r="http://schemas.openxmlformats.org/officeDocument/2006/relationships" id="272" r:id="R747179518b6c451e"/>
    <p:sldId xmlns:r="http://schemas.openxmlformats.org/officeDocument/2006/relationships" id="273" r:id="Rfd3d0b4491f74a7e"/>
    <p:sldId xmlns:r="http://schemas.openxmlformats.org/officeDocument/2006/relationships" id="274" r:id="R60b8583a568d46f2"/>
    <p:sldId xmlns:r="http://schemas.openxmlformats.org/officeDocument/2006/relationships" id="275" r:id="R609d3edbb223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0f5f91538546bb" /><Relationship Type="http://schemas.openxmlformats.org/officeDocument/2006/relationships/slideMaster" Target="/ppt/slideMasters/slideMaster1.xml" Id="R81680b9a40bd4692" /><Relationship Type="http://schemas.openxmlformats.org/officeDocument/2006/relationships/notesMaster" Target="/ppt/notesMasters/notesMaster1.xml" Id="R8cdd783b9aac44f1" /><Relationship Type="http://schemas.openxmlformats.org/officeDocument/2006/relationships/presProps" Target="/ppt/presProps.xml" Id="R380773f79f93405d" /><Relationship Type="http://schemas.openxmlformats.org/officeDocument/2006/relationships/tableStyles" Target="/ppt/tableStyles.xml" Id="R3d7db771cb1d40f5" /><Relationship Type="http://schemas.openxmlformats.org/officeDocument/2006/relationships/slide" Target="/ppt/slides/slide1.xml" Id="R5e63099a5562449b" /><Relationship Type="http://schemas.openxmlformats.org/officeDocument/2006/relationships/slide" Target="/ppt/slides/slide2.xml" Id="R85e3c3465f694eae" /><Relationship Type="http://schemas.openxmlformats.org/officeDocument/2006/relationships/slide" Target="/ppt/slides/slide3.xml" Id="Rc1e4713360a64fb5" /><Relationship Type="http://schemas.openxmlformats.org/officeDocument/2006/relationships/slide" Target="/ppt/slides/slide4.xml" Id="Rc4ba6b5253fb4d6b" /><Relationship Type="http://schemas.openxmlformats.org/officeDocument/2006/relationships/slide" Target="/ppt/slides/slide5.xml" Id="R647a51cb89254cbc" /><Relationship Type="http://schemas.openxmlformats.org/officeDocument/2006/relationships/slide" Target="/ppt/slides/slide6.xml" Id="R5653d118c20843c6" /><Relationship Type="http://schemas.openxmlformats.org/officeDocument/2006/relationships/slide" Target="/ppt/slides/slide7.xml" Id="Rcf2fb2d296b644ee" /><Relationship Type="http://schemas.openxmlformats.org/officeDocument/2006/relationships/slide" Target="/ppt/slides/slide8.xml" Id="Rc05765058806411e" /><Relationship Type="http://schemas.openxmlformats.org/officeDocument/2006/relationships/slide" Target="/ppt/slides/slide9.xml" Id="R145d74d6846a4a86" /><Relationship Type="http://schemas.openxmlformats.org/officeDocument/2006/relationships/slide" Target="/ppt/slides/slide10.xml" Id="R6d2448af6a014fb9" /><Relationship Type="http://schemas.openxmlformats.org/officeDocument/2006/relationships/slide" Target="/ppt/slides/slide11.xml" Id="R26692748287c426c" /><Relationship Type="http://schemas.openxmlformats.org/officeDocument/2006/relationships/slide" Target="/ppt/slides/slide12.xml" Id="R4c4881d4b1ee438b" /><Relationship Type="http://schemas.openxmlformats.org/officeDocument/2006/relationships/slide" Target="/ppt/slides/slide13.xml" Id="R2077c1c9585c444e" /><Relationship Type="http://schemas.openxmlformats.org/officeDocument/2006/relationships/slide" Target="/ppt/slides/slide14.xml" Id="Rc698b82c5bc04814" /><Relationship Type="http://schemas.openxmlformats.org/officeDocument/2006/relationships/slide" Target="/ppt/slides/slide15.xml" Id="R49ec8a2df9c843f2" /><Relationship Type="http://schemas.openxmlformats.org/officeDocument/2006/relationships/slide" Target="/ppt/slides/slide16.xml" Id="Raf197540cfc3448d" /><Relationship Type="http://schemas.openxmlformats.org/officeDocument/2006/relationships/slide" Target="/ppt/slides/slide17.xml" Id="R747179518b6c451e" /><Relationship Type="http://schemas.openxmlformats.org/officeDocument/2006/relationships/slide" Target="/ppt/slides/slide18.xml" Id="Rfd3d0b4491f74a7e" /><Relationship Type="http://schemas.openxmlformats.org/officeDocument/2006/relationships/slide" Target="/ppt/slides/slide19.xml" Id="R60b8583a568d46f2" /><Relationship Type="http://schemas.openxmlformats.org/officeDocument/2006/relationships/slide" Target="/ppt/slides/slide20.xml" Id="R609d3edbb223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40b341f18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04bd354084b66" /><Relationship Type="http://schemas.openxmlformats.org/officeDocument/2006/relationships/notesMaster" Target="/ppt/notesMasters/notesMaster1.xml" Id="Rabf77d0dea684d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1610b97e59488f" /><Relationship Type="http://schemas.openxmlformats.org/officeDocument/2006/relationships/notesMaster" Target="/ppt/notesMasters/notesMaster1.xml" Id="R1d64606cc853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00ee10c214225" /><Relationship Type="http://schemas.openxmlformats.org/officeDocument/2006/relationships/notesMaster" Target="/ppt/notesMasters/notesMaster1.xml" Id="Rc3876be75ffb4c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3ec12211cd443c" /><Relationship Type="http://schemas.openxmlformats.org/officeDocument/2006/relationships/notesMaster" Target="/ppt/notesMasters/notesMaster1.xml" Id="R32738a7b1a50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05884fec4a4381" /><Relationship Type="http://schemas.openxmlformats.org/officeDocument/2006/relationships/notesMaster" Target="/ppt/notesMasters/notesMaster1.xml" Id="R9f2106c1cba848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d7272e37c74a32" /><Relationship Type="http://schemas.openxmlformats.org/officeDocument/2006/relationships/notesMaster" Target="/ppt/notesMasters/notesMaster1.xml" Id="R579ee3a138bb47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db8fc89da147f5" /><Relationship Type="http://schemas.openxmlformats.org/officeDocument/2006/relationships/notesMaster" Target="/ppt/notesMasters/notesMaster1.xml" Id="Rca671fc37f624d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ebb6706ae4e17" /><Relationship Type="http://schemas.openxmlformats.org/officeDocument/2006/relationships/notesMaster" Target="/ppt/notesMasters/notesMaster1.xml" Id="R63a008337bd7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84bf62e7c4058" /><Relationship Type="http://schemas.openxmlformats.org/officeDocument/2006/relationships/notesMaster" Target="/ppt/notesMasters/notesMaster1.xml" Id="R6688eb69606140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3cf4eb686d450a" /><Relationship Type="http://schemas.openxmlformats.org/officeDocument/2006/relationships/notesMaster" Target="/ppt/notesMasters/notesMaster1.xml" Id="R0e8ab5b9301f42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4257dc45ac4472" /><Relationship Type="http://schemas.openxmlformats.org/officeDocument/2006/relationships/notesMaster" Target="/ppt/notesMasters/notesMaster1.xml" Id="Rb5074e7478ae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209ce038f4f55" /><Relationship Type="http://schemas.openxmlformats.org/officeDocument/2006/relationships/notesMaster" Target="/ppt/notesMasters/notesMaster1.xml" Id="R8a8d35da3e0946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ff2ef235a94114" /><Relationship Type="http://schemas.openxmlformats.org/officeDocument/2006/relationships/notesMaster" Target="/ppt/notesMasters/notesMaster1.xml" Id="R54013126a34d4a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02ff9742284b04" /><Relationship Type="http://schemas.openxmlformats.org/officeDocument/2006/relationships/notesMaster" Target="/ppt/notesMasters/notesMaster1.xml" Id="Rf970e80b3efc4e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9f71d04dd24ff3" /><Relationship Type="http://schemas.openxmlformats.org/officeDocument/2006/relationships/notesMaster" Target="/ppt/notesMasters/notesMaster1.xml" Id="R6de6016add5a4e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c732e3033e4677" /><Relationship Type="http://schemas.openxmlformats.org/officeDocument/2006/relationships/notesMaster" Target="/ppt/notesMasters/notesMaster1.xml" Id="R8e6ab08eee184b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6c12d0285048de" /><Relationship Type="http://schemas.openxmlformats.org/officeDocument/2006/relationships/notesMaster" Target="/ppt/notesMasters/notesMaster1.xml" Id="Rbc885eb9d0f645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770a8ad71d4615" /><Relationship Type="http://schemas.openxmlformats.org/officeDocument/2006/relationships/notesMaster" Target="/ppt/notesMasters/notesMaster1.xml" Id="R5480223811494f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b684c3767f4da7" /><Relationship Type="http://schemas.openxmlformats.org/officeDocument/2006/relationships/notesMaster" Target="/ppt/notesMasters/notesMaster1.xml" Id="Rb1ccf269f6cf465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63c806c21b4173" /><Relationship Type="http://schemas.openxmlformats.org/officeDocument/2006/relationships/notesMaster" Target="/ppt/notesMasters/notesMaster1.xml" Id="R213fd4b6911041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reading a confident claim about a local business with nothing behind it. Ask how we would check. Then start Round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Market research gathers and analyzes data about consumers, competitors, and market trends using surveys, interviews, focus groups, and product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Purdue OWL's criteria: author expertise, intended audience, fact versus opinion versus propaganda, objective language, sufficient evidence, cross-referencing, timeliness, and a reference list. Print this slide as a handout if you 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5 minutes working, 2 minutes of cut sources read aloud. Students who brought nothing pair with someone who did.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circulate and ask students to read you the source, not the finding. If they cannot say where it came from, the round is not done for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Investopedia stresses SWOT works when people supply realistic data points rather than prescribed messaging. An empty threats box usually means the student is being polite, not thorough.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https://www.investopedia.com/terms/s/swot.asp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when concrete. A question with no date attached does not get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who arrive at Meeting 4 without this cannot draft. Say that now, not next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Assignment: finish all five questions with sources logged, and send the primary-data questions from Round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this check for every outside source. CRAAP stands for Currency, Relevance, Authority, Accuracy, and Purpose. The slide paraphrases the original checklist for middle-school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https://library.csuchico.edu/sites/default/files/craap-test.pdf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Investopedia describes a business plan as a strategic roadmap with an executive summary, market analysis, marketing strategy, and financial projections. Students are writing a much shorter version about someone else's business.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3 minutes to write, 3 to cut. Read two or three claims aloud and ask the room to argue with them. A claim nobody can argue with goes back for a rewrite.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count in step 3 is the real diagnostic. Students with one supporting finding need a smaller claim, not more adjectives.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round is where most of the lesson lands. Do not let students skip to polishing sentences before they have done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bakery example is a differential advantage in Investopedia's terms: something hard for a rival to copy quickly. Read the four sentences aloud as one paragraph first so students hear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https://www.investopedia.com/terms/c/competitive_advantage.asp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two or three so-what sentences aloud before the build starts. It sets the bar better than any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at which round produced which section. Students usually realize they have already written five of the 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https://www.investopedia.com/terms/b/business-plan.asp</a:t>
            </a:r>
          </a:p>
          <a:p xmlns:a="http://schemas.openxmlformats.org/drawingml/2006/main">
            <a:r>
              <a:t>- https://www.investopedia.com/terms/b/businessmodel.asp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should target unsupported claims and missing analysis, not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Anyone who cannot say the claim in one sentence has written a summary, not a paper. Flag it in the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  <a:p xmlns:a="http://schemas.openxmlformats.org/drawingml/2006/main">
            <a:r>
              <a:t>- https://www.investopedia.com/terms/c/competitive_advantage.asp</a:t>
            </a:r>
          </a:p>
          <a:p xmlns:a="http://schemas.openxmlformats.org/drawingml/2006/main">
            <a:r>
              <a:t>- https://www.investopedia.com/terms/s/swot.asp</a:t>
            </a:r>
          </a:p>
          <a:p xmlns:a="http://schemas.openxmlformats.org/drawingml/2006/main">
            <a:r>
              <a:t>- https://www.investopedia.com/terms/b/businessmodel.asp</a:t>
            </a:r>
          </a:p>
          <a:p xmlns:a="http://schemas.openxmlformats.org/drawingml/2006/main">
            <a:r>
              <a:t>- https://www.investopedia.com/terms/b/business-plan.asp</a:t>
            </a:r>
          </a:p>
          <a:p xmlns:a="http://schemas.openxmlformats.org/drawingml/2006/main">
            <a:r>
              <a:t>- https://www.investopedia.com/terms/v/valueproposition.asp</a:t>
            </a:r>
          </a:p>
          <a:p xmlns:a="http://schemas.openxmlformats.org/drawingml/2006/main">
            <a:r>
              <a:t>- https://library.csuchico.edu/sites/default/files/craap-test.pdf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a8aba8d92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4098d24094281" /><Relationship Type="http://schemas.openxmlformats.org/officeDocument/2006/relationships/slideLayout" Target="/ppt/slideLayouts/slideLayout1.xml" Id="R7eac696e017c4e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c696e017c4e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e72165cf4e7b" /><Relationship Type="http://schemas.openxmlformats.org/officeDocument/2006/relationships/notesSlide" Target="/ppt/notesSlides/notesSlide1.xml" Id="R0c19b9aecf73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f284be5934835" /><Relationship Type="http://schemas.openxmlformats.org/officeDocument/2006/relationships/notesSlide" Target="/ppt/notesSlides/notesSlide2.xml" Id="Re7c390614fa44a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a4ed474c14ff5" /><Relationship Type="http://schemas.openxmlformats.org/officeDocument/2006/relationships/notesSlide" Target="/ppt/notesSlides/notesSlide3.xml" Id="R5ee015f497af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21269492949bf" /><Relationship Type="http://schemas.openxmlformats.org/officeDocument/2006/relationships/notesSlide" Target="/ppt/notesSlides/notesSlide4.xml" Id="R12daa49224c0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fed61185a4ffc" /><Relationship Type="http://schemas.openxmlformats.org/officeDocument/2006/relationships/notesSlide" Target="/ppt/notesSlides/notesSlide5.xml" Id="R695c431d3a6c49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7b57adc24926" /><Relationship Type="http://schemas.openxmlformats.org/officeDocument/2006/relationships/notesSlide" Target="/ppt/notesSlides/notesSlide6.xml" Id="Rdf7a7301106044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58a9b478449ac" /><Relationship Type="http://schemas.openxmlformats.org/officeDocument/2006/relationships/notesSlide" Target="/ppt/notesSlides/notesSlide7.xml" Id="R613b28b2874e4c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3c82fb89e4e39" /><Relationship Type="http://schemas.openxmlformats.org/officeDocument/2006/relationships/notesSlide" Target="/ppt/notesSlides/notesSlide8.xml" Id="R65acf7d6681e41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780f0b55341fe" /><Relationship Type="http://schemas.openxmlformats.org/officeDocument/2006/relationships/notesSlide" Target="/ppt/notesSlides/notesSlide9.xml" Id="R1543a9b5ea7548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b348a1c824481" /><Relationship Type="http://schemas.openxmlformats.org/officeDocument/2006/relationships/notesSlide" Target="/ppt/notesSlides/notesSlide10.xml" Id="R1f91615355f042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5c98ca7504c98" /><Relationship Type="http://schemas.openxmlformats.org/officeDocument/2006/relationships/notesSlide" Target="/ppt/notesSlides/notesSlide11.xml" Id="R032d026226174e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81ed3d2154dac" /><Relationship Type="http://schemas.openxmlformats.org/officeDocument/2006/relationships/notesSlide" Target="/ppt/notesSlides/notesSlide12.xml" Id="Rdb4171dd13e644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d02dc2ca14ac3" /><Relationship Type="http://schemas.openxmlformats.org/officeDocument/2006/relationships/notesSlide" Target="/ppt/notesSlides/notesSlide13.xml" Id="Re60378f333984d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1232cb9d41f5" /><Relationship Type="http://schemas.openxmlformats.org/officeDocument/2006/relationships/notesSlide" Target="/ppt/notesSlides/notesSlide14.xml" Id="R13087d91fe344a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0c15f5bf5493b" /><Relationship Type="http://schemas.openxmlformats.org/officeDocument/2006/relationships/notesSlide" Target="/ppt/notesSlides/notesSlide15.xml" Id="Rc8572779c01947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1eacafaa45ff" /><Relationship Type="http://schemas.openxmlformats.org/officeDocument/2006/relationships/notesSlide" Target="/ppt/notesSlides/notesSlide16.xml" Id="R5a91469383da44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9678eb55473d" /><Relationship Type="http://schemas.openxmlformats.org/officeDocument/2006/relationships/notesSlide" Target="/ppt/notesSlides/notesSlide17.xml" Id="Rd86ff7d5bed1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83f504bf64270" /><Relationship Type="http://schemas.openxmlformats.org/officeDocument/2006/relationships/notesSlide" Target="/ppt/notesSlides/notesSlide18.xml" Id="Reaa3a5ccdc2840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828a24e344e84" /><Relationship Type="http://schemas.openxmlformats.org/officeDocument/2006/relationships/notesSlide" Target="/ppt/notesSlides/notesSlide19.xml" Id="Rd1f479aa2dcd47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30487d37e4e7a" /><Relationship Type="http://schemas.openxmlformats.org/officeDocument/2006/relationships/notesSlide" Target="/ppt/notesSlides/notesSlide20.xml" Id="R75e50e2fe5ec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19E74-7F84-487E-99FF-D1A66E54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5383B-724B-414E-A024-DC7D32B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DEVELOPMENT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FB4DB-F591-48EA-B423-CDF8BD8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D5D34-3D29-4365-9031-5E7C644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D8D3A-4A9B-4D46-8FE4-58E0A9A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MEETING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15FFA-8730-464D-9D9E-C14C188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906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 and write</a:t>
            </a:r>
          </a:p>
          <a:p xmlns:a="http://schemas.openxmlformats.org/drawingml/2006/main">
            <a:pPr algn="l">
              <a:def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business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B2272-E94E-4D2A-8921-A711545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249B2-A512-405E-B191-16CF3067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Find trustworthy evidence, test every source, and turn your research into a one-to-four-page article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6829D-90E9-470E-9C72-8C80C5E5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062E9-3AD1-4C35-B0D5-D2462FE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62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75B83-1B19-41F2-8DC7-47AC18E0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8189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25928-EB40-4B10-8241-7DA6A063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Two kinds of data, and you need both.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D0C3E-1E0D-4A22-9DE4-BD3D172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36642-C0D2-4B53-BA2F-A137C8A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463A9-26B2-4C61-9626-3B0C6D4A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817F1-62D8-486B-9EF9-00513490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04E42-E531-43F7-ACB3-D7DFF3A9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D8CAC-A614-4422-A569-636DE371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3AF8-695F-451E-B3FB-46952ED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D35C5-6B8F-40B9-BCBA-4BC6ABCE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Primary data is what you collect yourself. Secondary data already exists somewhere else.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644E1-FE13-4B6C-816D-689BA81C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01515-37CB-45BF-BE33-9DBD4B9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5CFEF-75C5-4BC2-BC0F-6589B3F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F64D5-61FC-4D7A-BE8F-1E31303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Your interview answer from last meeting is primary. Everything you find today is secondary. Today you get both on paper.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B9DF-42D4-41EB-B894-8B59E1AE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3DDA9-6328-4B01-B400-D4B35A6F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5014B-3505-4AC8-9CFE-7F659D2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F629F-D4BF-43B6-8522-0E51920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A1AA4-D348-47D8-9417-3D615E5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7268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018AC-0130-4C5F-BF58-F0E5AD3D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Keep this in front of you all meeting.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7BE4C-DCEA-49FD-80B6-052F0FD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7EA41-538A-4877-8A7A-2EDF5950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JUDGING CARD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CDFEE-C340-4F1C-A284-B4B23B9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 will run every source you find today against these two columns. It is the tool, not a lecture.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09B27-19F6-445D-BC39-6ADFFDCD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7540D-7C5B-4213-B7A9-975A9F4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C32F6-F9E4-45FA-8375-8577B15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96AC5-33FB-49A1-AB95-624224B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17823-138C-4A32-A93C-C7CC158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named author with relevant expertise.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6F913-E19D-480B-9F18-BAE1AFF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F8DDB-BF28-41C7-BC18-E3852EE6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Facts separated from opinion.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34915-BA84-487B-A527-94B13D1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FE92-D28E-41B7-A7B0-03E64C9F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909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Objective language, not loaded language.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EC6F6-BD24-416B-972F-7E029D4C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06E51-20AE-4B9D-8D8F-D8155217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05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claim shows up in a second source.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90EFE-7399-497C-BBA2-BF84DF9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1CF1C-F5F3-4E5C-974A-CC590C0B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01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It cites where its own information came from.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3854F-3B4F-4571-B1DE-193D217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4D1BD-808B-43C2-A214-CC1FD759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48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42406-78A3-4649-9EE3-6DBCD53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CUT 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7391D-FADF-4222-9468-7F232BAC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C5B42-F2A9-4D1B-BCB8-5B23F27A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717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author you can check.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77376-13F5-4A8F-9877-D2BF9B9F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1B81A-E184-451A-B957-52EA0BE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813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Opinion presented as settled fact.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FEE94-2128-4027-8E6D-28D0D03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A3DE1-284E-4F60-89A8-B3302E5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909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Adjectives doing the persuading.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61E525-60B3-4418-97E4-D319916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B00C5C-8602-4577-A537-D15B4CF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005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only place the claim appears.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A802F-C305-4F8F-9202-060078B5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387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25AAF-ECB7-403E-A54B-226B956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10175"/>
            <a:ext cx="4305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Out of date for a question that moves.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DF71C-239C-4CE5-BAC8-89B2378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589A2-BFDF-4890-BB93-9BBD254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2D2620-42B5-42A1-B445-32150FD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FFA0D6-7312-4455-BADE-A1A35D48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0E00D-81AF-4C1C-98B8-6705D59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8683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E3A6A-B3A3-4D31-B4E3-AAA0E05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Throw a source out and be able to say why.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C0F02-13AA-44EB-8F1C-1CFC158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A44C1-81C9-439A-A354-65B0108A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85D1A-0CE5-4599-B891-1A40B4AE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A9EFB-F532-4411-8E5C-28F6DA0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D7A5D-AED5-45FA-A6B4-FFD2E26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3D7F9-6EBB-40CC-A3A4-64D101D6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635C3-AB72-4A63-948E-D2FBA25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28A46-0957-4948-8DD1-CCA7E79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F29F6-DAB8-432F-A5AD-4762E18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6211D-79D8-44D1-8A4B-8762BD8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the three sources you brought. Do not read them 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D9844-0B07-4DA8-882E-60D6D1D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81D24-56BB-4804-B07D-C252C3E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22C8F-2D81-463C-A772-45D206A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Run each one against the judging card. Write keep or cut, plus the reason.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25CD8-BBBC-457D-B90E-24BF0CF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553E2-8C39-49D5-BDD6-D2088788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6B654-775F-489C-A1C7-902EE2D9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must cut at least one. If all three survive, your standard is too 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E06AF-E0DB-41C3-A092-5EB1D79E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F71F8-21E1-4387-A8C9-5ED316D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B9F8D-D9A9-4A52-A28B-4C9F925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AC766-BB57-4DF5-AA93-DC792C8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verdicts with reasons attached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67BAA-CB45-4E46-AC05-89A91EB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7EE4E-E878-4A3D-B3A3-83A62C94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cut one is the most useful thing here. You now know what bad looks like.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1B81C-E959-4C22-83A4-997CC858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Cross-referencing is the fastest check: does the claim appear anywhere else? (Purdue OWL)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FDB1B-2CE4-4967-9B55-CBE1775F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80489-0AD6-4BBD-AA0C-6607E644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98FD3-E5AD-45EB-8985-D51D3252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7B520-AE91-4A04-8D95-6F2A35D8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B22A3-9220-454F-AF40-194B4093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3092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BC803-3F9C-4A99-89AC-7C1C3D88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Answer three of your five questions, with receipts.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53FB-D0C1-43E9-A8C8-768107B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4511-E8C3-4917-AE9B-A9A0F9C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HUNT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E3C66-6E2A-4F05-AC87-90F6091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9CB72-D18D-46DE-A0C3-BEA41EBC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12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AFFF4-1544-4794-9F3E-AA135AA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FFF4-7CB3-463C-BD62-DE2A95C0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8168B-F623-4283-9C83-D1E71070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0A479-32CF-4BA1-B45F-A2FFB96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54F06-DE59-4838-8D73-193654C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06722-6DDA-4252-903D-EC61919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three questions. Find one source that could answer each.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9F2DF-7005-4703-AAC7-C841FC7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794F9-E079-4DD0-BD7A-9D54C0E9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24DC6-0841-4963-BC07-890C77C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Log the link and today's date next to every 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C5207-B477-45D7-8E63-1F3A4BD7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59424-3FFD-4D1C-9B96-82B73D3F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9292A-C371-468E-9BB8-F9D5145F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answer in your own words, in one or two sentences.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C7631-46CC-48AB-9A81-DD5943D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3F800-755D-4559-8FC4-E893B26F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8D9BA-7364-40E6-AE1D-7E0A688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C1878-7EA6-437D-8099-A19EA94B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sourced findings, logged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91D59-8751-4B3D-A9E6-5D418ED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498F1-CB2F-4151-8815-57223D68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These are the first real sentences of your business paper.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F96FC-AF68-49AB-A5A7-88C7102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 answer with no link and no date does not survive to the paper. Log it now or lose 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4D7FD-B4A1-41EF-BA49-B1B70CE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130F0-E298-430A-A55F-E384E053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82100-CB92-45C4-BD01-6939A590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68C8B-FF1C-4E9A-BBBC-802370B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F8EBE-E737-4795-95C4-B0F325A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5248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2E13A-9E47-4662-90F6-44F1A17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Put your findings in four boxes and find the empty one.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B87A1-DA81-4934-9695-1E59897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E43DF-9F54-40BE-A869-DC26398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SORT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BDFFE-87D2-4A62-BB85-99DEDADE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039B9-FE8F-4483-A309-1A0202EA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076F7-6FA5-4A99-8FC1-4035FD3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2D847-4FAD-46B2-83EC-85D9A9CA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55997-DFBB-42D5-B20D-911230E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148B8-AC9D-4B48-BD3D-658957C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5E9CF-A9B9-4E75-99E2-2EFAC2E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00606-4EBE-44BA-9779-E70B853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Draw four boxes: strengths, weaknesses, opportunities, threats.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8FDB1-6414-45DA-A503-504A32B9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D95DE-F13B-44F5-8604-B8E1B505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465C3-BB42-4438-AB2B-BC70CAB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Place every finding you have into the box where it belongs.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0A5E1-B861-41A6-838B-EA44040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5A06D-6A0E-4780-B410-3217D52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FB901-CCE6-4A82-9A41-93DE57D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Name the emptiest box out loud. That is your next research question.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587B4-727B-47FF-A14A-A3BE779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D641B-B7C5-44AB-975C-27433188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DC541-7A51-4032-9E7F-66B032B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ACD72-4FB9-461C-810D-96079E6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filled SWOT with one named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260BF-4635-4981-861D-B9C94CA5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B9BB1-39D5-4D85-93E4-4DDD7F2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gap is worth more than the full boxes. It tells you where to look next.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8BA61-F18B-4681-B16B-23E2FF1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Strengths and weaknesses are internal to the business. Opportunities and threats are external.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D6564-186A-490C-8483-51579AC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SWOT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EB86E-FB33-45DB-95EA-3D2873A8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2FB88-D247-4AAD-8E91-0A22648B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DFBCE-51ED-4D77-8E90-BD4CF769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CC4D5-2194-422E-AA13-1357E42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2839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611AA-048C-4D60-BF06-2E6D10D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questions you will actually send or ask.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1760F-A5CE-4277-A85C-3AA796C2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3C9FF-EFB5-4418-B338-2D413866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GO GET PRIMARY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6D378-1350-4A7B-BC2D-7C4816C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547A5-BDAC-430A-96D0-5CC2D4D1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F4C4A-2439-4701-9A6B-F368D52F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6DDF5-130C-4095-B18B-AD1E2B1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45EE4-3030-477A-BB5D-BA5C161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A9CAB-D6E6-4B73-B177-B3645665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F5CCF-5ABE-4FF3-AA7C-323B207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718C6-A1F9-4A03-BF85-9D319122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Aim them at your emptiest SWOT 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B2707-742F-4942-88DB-3FAB510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8A9F0-D9A6-47DF-8E44-3B8E303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77312-D089-4FFF-B0C9-005837F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yes-or-no questions and no questions a website already answers.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65F00-748D-4E0D-980F-8F28939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04787-51BA-4F7E-83B1-D218B1B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0E04C-9211-4FC6-BD08-FE43C4D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Decide now: email, visit, or observe. Write which, and when.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B47C5-9592-46B6-9458-7328014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EAA02-B419-49F4-98F0-336548F2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B363C-9D79-4363-A10A-952D3BD3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27386-822E-4701-9C7A-10104FA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questions and a plan to ask them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4153B-DB4B-4E71-A4EC-D700C6E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20757-D374-467D-B086-7A5D47AF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Send them before Meeting 4. An owner's sentence outranks any article.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DA7FC-340F-4966-A711-1DDCF81E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Primary data is what you gather directly. It is the part of your paper nobody else can copy. (Investopedia)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C4096-AB1A-478E-84EE-CEC78072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BC51B-7D2C-40E9-8A29-176620B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6DD60-414F-4B31-A10C-CC3A18A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77A5B-4AB7-4226-A5B1-888F4B9D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76853-3C36-4709-9DE4-409E004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5198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4E792-C17B-495B-8DD9-D87281A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up your findings so a stranger could check them.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786EE-968A-4807-A79A-F329CF2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D9006-9622-4DFF-98D6-2EEFBA9E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EB7A7-16A0-446B-A8B7-5794F2E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ADEE4-BD36-440F-A171-BBAFC4A8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F2E6C-963A-4321-A648-EBFEB50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67DB1-E244-4D54-A6BC-05E3551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1796-9885-463D-9B85-A72277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B289D-F8E0-4892-9FEF-3FCB529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1C017-F9BB-4929-BD1F-0A591F32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One line per finding, in your own words.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39027-A576-4F49-9D64-143A41B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152EA-AC11-4775-A1CF-B33DB013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6DAB8-BC40-4808-9CD9-034D1342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Link and date under each 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64741-0D41-4504-8A25-E1F4CF73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FAE9E-DA37-4AC9-BD3F-85F2AD6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E2D89-334D-4337-96AB-7C122A6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Mark which are primary and which are secondary.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6172B-8B21-40FC-A52A-59CC871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39E87-5793-46DF-9A30-A3D9ABBE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58569-3F29-4CA9-8F9F-928139D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List the questions still open at the bottom.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2A011-EBB3-40E6-9C25-EA37F6DF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C958C-3D1A-463E-A4A3-6BF713BA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07178-5FFB-494E-95E2-55697BE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572CD-79A5-4CA6-87E5-7AA3833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sourced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findings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C8C9B-5DE6-457C-98C3-5F80B205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48C97-CCF0-4A0D-9599-3A6CAA79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This is what you write the paper from next meeting.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DA2A2-7952-40E9-B4C2-13F8AEC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3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71117-3A63-451E-BD7E-95D4E71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AD78E-3FE2-49E7-AE45-F763EE07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0B393-44EC-4120-84AE-56D6C325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5CA46-E24F-4543-8D2F-EF3E75BE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8745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48AF1-EC97-4587-B054-53FD08A2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Name the source you threw out and the finding that surprised you.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71092-98F4-40A0-A84A-9AE7E2E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56CAC-0BC1-4EFB-A1E9-69B96AF9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9463D-E259-4961-A526-B194B67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A3781-F57A-45FD-AA46-40703D3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96624-58ED-4584-997D-DCF1EC76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71C69-44FD-443F-A773-36425E9C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3A177-DFA1-4426-8892-9854A311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finding surprised you?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9A15F-0A74-49D4-A13A-1692D19A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68B4A-2330-490A-90B6-4C5BB20C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source did you cut, and why?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7C6A6-5A9B-4053-9B72-1F80E23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10DE9-6B17-4C80-B3A0-78B7F0F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is still unanswered?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E5617-8C0F-45BF-BA80-31714FC2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87465-8F29-4DD0-8EC0-897EE00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22D3F-8389-49D5-91DE-B7AF6DEF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E5763-EB6B-4CC1-A9CE-BC54A36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business spotlight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04876-FF36-4E03-A01F-CDB8FA4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EEDD0-78B3-416C-BFF5-6DFD7E8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Turn the findings log into a one-page paper with one claim, real evidence, and your own analysis.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73228-674B-4C29-BDBC-0E8BEC7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D82E3-62DE-47AF-AA79-9975C6C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B14B3-6533-4DF3-AF0C-1EFA81A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801A8-BACC-44D3-AD0E-283E3232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56E2B-0934-40A0-954B-CB91627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2166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4C6A1-25D8-4D8B-B222-CA3A02DF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CRAAP test for student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E96F-6EC1-4F50-937D-C27E0052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C9ACA-A779-40BE-9E3E-AA0F0ECD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EEEBC-0269-41AD-AB4F-CBF06B6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a source enters your article, answer all five questions and record the evidence in your research notes.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C6ED3-1B25-4398-8121-D05E34B8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C491-2F46-4AA5-88DA-73D86590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DFEBB-1A47-41D1-B954-F5E7F6DC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D4DB1-5787-4A9C-A40E-104D464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Currency: When was it published or updated, and is that date appropriate for your question?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837D4-86ED-41FC-A734-13B5763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9035B-2293-4D8B-9ACF-B42C2354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0F8B7-52A8-4960-AE9A-1960A7A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78ACF-3024-45A1-820E-A3CD48B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Relevance: Does it directly help answer your research question for this business and audience?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3B2F4-0665-4B82-9618-C86475A0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91DB4-8382-4944-B7D4-996D2093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B2DC6-69E5-438E-B5AA-A34BF29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A9C65-20B5-41BB-828E-5177D35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Authority: Who created it, and what gives that person or organization credibility?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2A93E-95EF-4DD8-B111-5BAE59C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BE9E5-C105-4AC4-89C5-533068F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79B0E-D04E-47CD-A5C8-7EBB4FDB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0C1E2-0307-487E-86E1-81246AE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Accuracy: Can you verify the claim with evidence or another reliable source?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62F24-DE28-4A38-8F3C-524F3C9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DC1BA-96DE-4A65-9D41-5208963E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85AFB-35C8-41AD-A4D2-A33B4B2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07073-3369-440A-B769-7542602C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Purpose: Is the source trying to inform, sell, persuade, entertain, or collect attention?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3C50B-3139-436B-964A-B536769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D82F9-8A26-4E23-AA25-0A45CD2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6DFCC-3117-441A-9572-B802DD9A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83526-FED1-4104-B6D0-04CC8E42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Decision: Use it, use it with a warning, or leave it out. Write one sentence explaining why.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5F12B-E949-4E34-91E0-612EC8D4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1163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6370B-7BBB-43BA-8B75-F33F647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4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source can look professional and still fail. Save the title, publisher, date, link, and your five-part decision before you start writing.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A73C4-CF36-449C-98F9-A131889B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California State University Chico, Meriam Library, CRAAP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FCE6E-9D14-4A1D-9B83-E5DF711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833EC-1341-43D6-A717-D934003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67DF91-A848-4EBA-942A-A141FD1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C1439-F052-4327-B807-67FFD8E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9682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4D253-0745-4D89-A4CF-3E45B01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paper is one claim, held up by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193D8-5CB7-4D49-BAC0-D159D73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95EF7-CD15-4D3B-9FC5-3D3AFED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A3661-F29C-4DFA-A76B-A5D56A4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C81CD-E2D3-4632-B1D9-8F2145A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5B929-DE16-45DB-8A93-F7700BB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116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A3D9-12F8-43DF-AFC4-7A1E9B2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0EEBD-EF92-4996-BBB2-A53F366A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8B04D-B29E-43CF-9E2C-0AA2000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410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One page, one business, one thing you are actually arguing. Everything else is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2BDCD-9639-4D9C-8A55-5212773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A1C7D-CC4E-4E2A-9593-8FEE0650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 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21EA7-7982-43BD-B2BE-8F1B248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116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A7C97-DADA-4A34-ACB3-F97B2B42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business plan does the same job for a company: goals, market, strategy, and the numbers behind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4E8A3-14EB-4A3D-86E0-319E8377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Business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A2BA7-93DD-481F-8EED-A84FDB85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29FDB-CDCC-4B4C-A460-FCBC38B6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FA92E-BDD3-4F62-89A1-127679F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C73EE-0007-4C6D-9182-0AB0306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3760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6A0DF-0E4D-4443-9CAC-48CEFAE6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claims. Keep one.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AF318-0E73-4C8C-9431-F869D25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545D0-6F6F-4BE3-8560-8AE45C51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1 OF 5 · CLAIM SPRINT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822B6-04B4-41A5-B69A-134CBC3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B421D-8737-4036-849E-DEF754C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B7F79-E770-4404-9705-96B034E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E55A8-AC81-4130-BD08-9C927EFE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B741E-155A-44CB-9B45-55B00D3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3A7B3-D431-436C-B042-9F2FD1D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0D074-E851-4B3C-A308-0CA07A8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CFF7B-2E95-47EB-A296-602D5778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Look only at your findings log. Write three sentences that could be true about this business.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1EB6C-2A96-4725-AA04-77E42C4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B98DE-C387-48A6-9E45-9CF1A9F7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96DF5-EB79-403B-92A0-E8ED1CC7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Cross out any that are just descriptions. A claim can be argued with.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99013-A172-48BE-9A7D-D6A3F19A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56A83-23BA-493E-A681-B65FA4D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31A68-AAC7-4B02-B851-694CDBF7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Circle the one you have the most evidence for, not the one you like most.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F75FA-C07A-4062-8BF5-F972FA2B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AEF15-3E0A-43F8-8D6C-F43FFCC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FFCC8-A708-4A35-A31D-B62948F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85195-6634-4518-8751-DE5FE5C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claim your paper will defend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DD24C-0928-4267-82A2-B6E0096C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D663A-19D9-4D25-81E2-EA3B14BF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Everything you write for the rest of the meeting hangs off this sentence.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8BFC8-3AF3-467A-87AC-96663CF2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If nobody could disagree with your sentence, it is a fact, not a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A3403-C8CF-4AE0-AEC3-06322160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Business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CF366-E0A6-4CBA-A72B-8D5C5DC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34EC4-C282-429D-8EA4-46C63AF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F865B-45D2-4352-81D0-58A2D05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8C84C-7405-484C-B56E-BE80950F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1768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AAFD5-2573-4E27-885A-ECF8ECC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Sort your findings under the claim and find the orphans.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5BADD-0C8D-44CE-A354-F04B7875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1E958-7028-433D-8621-9D26551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2 OF 5 · EVIDENCE 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389DF-230A-4CE4-B0EF-68F238DD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7885E-B099-4854-93C9-DD7D0B6B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E603C-890E-489A-B153-72CA8739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44036-2702-40F9-8E97-6CA12B08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B199E-33F4-4769-8C77-D99A1CC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340B5-162A-4A07-8F29-E3558643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354E9-4642-4208-9ABB-2E832BBF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F5267-C5A7-419C-A585-8E7E0648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List every finding that supports the claim directly underneath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A94BA-8AA4-4CF1-9FCD-C71CB54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58323-C4B6-4073-82B7-447A58F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99185-43B4-4D44-A748-952A3BD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the rest in a second pile labelled interesting but unused.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E4F4C-E50B-45E4-A2FC-EB05D98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08480-BA91-49D2-BB4A-EED7A622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2EFE6-2096-4CAE-BD95-9423AFE7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Count the first pile. Fewer than three means the claim is too big or the research is thin.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05A51-60EA-4271-A0DE-074E0B1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7196C-C712-4D92-9FCE-ACD3269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F7813-F6C6-4A18-BD83-4AF17E9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564DB-6360-46B6-B069-97F636A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claim with its evidence stacked under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18F8A-DD55-4E22-BCDE-23CD4E0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9C28D-D220-4D29-B49D-1686FB35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unused pile is not wasted. Most of it belongs in another section.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FB19E-52CC-47C9-B261-6FA93B34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Evidence that does not support the claim it sits under is still the wrong evidence. (Purdue OWL)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8A5A5-F0BC-4D82-BF4B-9C1DF1C6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3770E-1149-4A22-9AEB-FC7D37D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A3BFE-37B7-4220-9C1D-4DEFE725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D329F-4107-43AA-A02D-D18A252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E7B66-E97B-4E49-B330-52378645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81427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507BF-3717-4380-95C9-153AD61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Underline every sentence you cannot back up.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7A648-15D7-42C8-8B30-B08514B3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B0DBE-7340-4901-B641-C30BFC96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3 OF 5 · WEAK-SENTENCE HUNT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1C650-EB6F-4E8F-82D5-3E2085B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C9E3A-90D7-4032-8946-3D1601C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7AE6E-8E32-4C89-85E6-675E398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C3C29-9333-4C28-9E1A-CE2A4BE8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0FA05-5950-4C65-A6B4-A13DE8D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8AEA2-822C-49D3-A259-65A8EED5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9AE84-A55F-4E4E-820C-F1182BE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7C775-5FC0-4B7A-B838-CA76319C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Go through your notes and underline anything using best, popular, or high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B13DE-DB73-4A62-9FD5-BE79C0A1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701B0-3103-4E55-A89A-6071E72F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6C89B-2DF2-49AE-BBFE-610D103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Underline anything with no source next to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A8F4D-0438-41D3-8526-0842E5B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7B7E8-1B90-4016-9B24-F83E58F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CDD47-536E-40D5-95AF-04577336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Fix three of them. Cut any you cannot fix.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0C5BD-5EE4-4E85-BCB5-040B0915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D74C7-61B3-42D7-81EF-39C3EE3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658B8-C6B9-4F46-BCD5-0C573A3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F1520-CBA0-44E3-8E5E-974F47CA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Three rewritten sentences and a shorter draft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A253B-149B-4957-A06D-8AFDB6D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8C059-DC86-4F1D-85E0-B6C823B0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Cutting is progress here. A shorter honest page beats a full page of adjectives.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2B79E-2130-48C5-BCAA-55223B4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claim a reader cannot check does not count, in your writing or anyone else's. (Purdue OWL)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95377-3C57-4E47-AEB0-783D56E6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61962-3D4F-47E5-9C7A-962FBF1B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15476-0BBE-4785-B4E6-D4A19BFA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22F96-4E1D-4DE3-9ABE-F51B8049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72DCF-B583-4965-9334-B00FEE7A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9949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2469E-1262-415C-898A-AE5C932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four sentences in this exact order.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DC7FF-7E58-49B5-86AD-6491C9C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2B340-AB10-4F31-9B96-616491F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4 OF 5 · PARAGRAPH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07522-B029-4ED7-89A5-BD5E055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E0E1-D657-4919-BE4E-FBA986C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31338-D2A5-4D8D-B73F-FD2FEAFB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33DC-2857-4344-9E77-38D85341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E14D7-BAC2-419E-8E79-735E9DF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3DCC7-7BD4-4817-B07B-B8D4C9B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9A175-B23B-4CDC-BB32-EE65C3D5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B7C18-FE1B-42A8-8214-5E10D9D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Claim: this bakery competes on being walkable, not cheap.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6D0D4-66FC-4BEF-B8AD-14909E4E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63320-C017-4DD2-A09B-D85E910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50588-D135-43F1-BEEE-FC0CAC49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Evidence and source: its two nearest competitors are over a mile away, checked on their own sites in September 2026.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FF70C-1E19-447E-82FD-25DCFAF1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C4BDB-A0CA-4E76-B33E-84B58D88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A2F74-BEE0-4379-9363-CB9A1B04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Analysis: location is its edge, and a new shop nearby would erase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38548-1CFA-4447-85D2-2038F06F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2527B-2397-4CC5-9F40-120BDE8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0B8AB-C1BF-40F7-884B-2903995C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0067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Now write your own four, about your business, on any section you like.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8FD65-FC7D-4673-B6A5-292D592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C56EF-7CC8-4832-BF57-1D6925A8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1BDCF-3856-4AD8-B098-721BCF74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15609-1B65-42AA-974E-EC738453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finished paragraph of your paper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FCDAE-1831-4C7C-9B0B-6D0C3376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1DF3A-DD71-47E2-AFAA-BEE4F086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Copy this shape for every section. It is the whole writing technique.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8E7C7-C547-470C-9600-B660CBE6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Claim, evidence, source, analysis. Read together it is ordinary prose, not a form.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DCD1E-4870-4DB9-AD08-D84E75B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Competitive Advantage; Purdue OWL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4B81F-56A0-42FC-AD5F-55669D0E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F2F9D-8047-4067-9973-05308BBA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B467BB-451F-40C1-9BF2-C50E6B0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DB5EE-D133-49B0-8DC9-FA3D2E1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86515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AD8C9-9D23-469B-810A-26C108F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sentence only you could write.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735C1-E1F0-4797-A9AA-167EC843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897B3-1487-4D81-B9B5-43139F26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5 OF 5 · SO WHAT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06B9E-2063-4170-82D9-62C4CE5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38394-1708-4491-99ED-D60846E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5F920-26C7-45E7-994D-5E44D73D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4B124-79A6-4806-8370-4057D09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5AA41-279C-4E05-B572-CA299D4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B917D-2065-4D61-8369-E1F2E5A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65831-2E46-4C84-A0D0-1265BF33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A7C86-D0C3-433E-8941-0715BF4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one finding. Write what it implies, not what it says.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2AD8E-DAD4-4812-A516-EC5B70F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F625C-6DD4-4744-A6A6-787A595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2E06E-92EA-45E2-81CB-51DD03C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38525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Then write what would have to change for you to be wrong.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57981-7BCD-4982-86EB-CF7F0040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5164B-5024-43A8-838C-459E3878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20042-FC67-448B-AB4D-E65C650D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539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new facts allowed. This is analysis, not more research.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176CF-F996-414F-A483-F770925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343B8-98B5-4028-9786-995B7D34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 LEAVE WITH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F8CAC-6C92-458C-ABFB-B4DDCE89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343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AAFBF-2091-43C3-BD59-2DA0199B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36957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Your opportunity-or-challenge paragraph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754AF-43A7-4C87-9379-8C0F5E89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667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8B648-88EF-4457-BD76-8DF0DB3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5297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If anyone in the room could have written your sentence, rewrite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B7557-EE68-49F8-AB76-A688CEE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110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Analysis is the part a judge, a teacher, or the business owner will actually respond 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6C0DA-0D1D-4DA0-9C8A-F61236BD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45CED-2C04-4D3E-903A-95CF288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2CDCC-8923-4639-9C7D-29872C1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F77EB-D9E1-4B0C-9A83-B685C8C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3BACBB-5F76-4EC8-8178-4185507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169257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7FC84-DA5E-48D4-8764-0AD7B96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Your article and campaign plan are ready when these sections connect.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47729-5754-462A-A2F8-ED697B4D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DF07C-BF18-4A15-99E0-19748D2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EIGHT SECTIONS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CC76F-3E34-4269-8255-7FFAA810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article may run one to four pages. Every section should help the reader understand the business, the audience, and the creative recommendation.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DED81-076B-4CB0-9602-C38F491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202AA-0D86-442D-859C-78EFD61F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5CBD7-3947-4139-913D-2E147BC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718E1-2D84-4801-B8E1-01DD7BD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Business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ECDE5-3A87-45D8-9859-EB4D1F57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0EF22-1C6C-41DF-AF81-6E2074B0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BD0F6-1996-44A4-A682-2F3D6E6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3A6F8-97DB-4D19-A5E9-93AC0CFC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7B6AF-BC3B-4E5F-88F9-D3546DBD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97372-64CF-45AF-A4AE-FBFB2484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BECE4-1992-43A5-B75C-4AE04B0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D08E9-5DC2-4A79-A0EB-1E96A996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Evidence with source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F188B-EE63-4D17-AC4B-13D50EE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FFE9B-4273-4DBF-8E96-54690717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040CB-4717-4279-AF5E-5AC0F215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24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47B5F-36AA-4428-B829-7D8DBA55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Audience insight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B4A69-BB78-4252-9FE4-AD957F45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8487D-EBBF-455D-993A-29ADD7A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28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3430A-A584-4814-88EB-7C538476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341FB-90B9-4370-B103-907401E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14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Advertisement 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44CFD-539F-4269-AFAD-702101E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477D6-4D08-427A-BCF6-74F4AFB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D1670-FB2E-4A66-9A7D-C64B40A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A93A2-5E6F-47DB-83D6-C4F5CA6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76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Message and desired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89718-9A36-47A2-AA0A-7528429C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D0FE8-BEE6-42A0-B4AF-A65A1854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52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E791E-560E-4DF5-B113-30281BB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52DD4-EF9A-497F-A540-75EAA05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38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Creative direction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06982-7F79-4681-A2E5-3543C80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514850"/>
            <a:ext cx="5286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D4F92-6766-49D8-AEE2-CB0C099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514850"/>
            <a:ext cx="55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0A4B0-821E-47B3-BBB7-880C37B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0C9701-9217-461F-8B6B-92E82C8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60057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00632-3B7C-4186-ACBE-CB5679AC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1163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F99CB7-D351-4BDA-9D84-8A306F2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74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campaign recommendation belongs in the same paper because it should grow directly from the research, not appear as a separate guess.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BD72A3-6549-43C5-BAB7-58DE0AF3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Business Plan and Business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C4307-C38A-4317-A1BC-637D5971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D9DB78-0E00-438D-81C8-F233B91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63675C-DFBD-4BFE-9FE2-64A3B650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95E687-5DE2-447D-BABD-15D185CC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72976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FD916-1FC9-4208-B3EB-D268F22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Assemble the article and campaign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A16EB-832C-4572-B4B4-E44930E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C208E-D551-4E54-81F9-672ED018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83568-20C3-4AC8-866A-DA0884A6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906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E8960-83AC-4A03-AB4F-E9956CE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076325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7F365-13A3-407A-89DE-8360382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E2D95-5860-47FA-864A-88B6AE5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DCF1A-5147-4BAA-B300-6C144015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61097-F9C6-4005-86F9-69533F53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B7E24-B877-4669-8B53-FC9780E6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4792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the business overview, research question, and strongest evidence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4F2AB-4BC5-4713-9592-6E7AF8C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2F555-134E-47B6-855F-69FA5E6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9DD4B-BE98-41DB-AFBE-5ABDEAD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Explain the audience insight in your own words and connect it to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98050-C7CB-47CD-A405-1037BE5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616E-B444-445E-87E2-A2B7AB68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918B4-4243-46CE-8FAC-B90C5087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Add the advertisement goal, message, action, and creative direction.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AA61D-4372-47A0-8E81-D06D35E2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4539B-6F71-4C84-8F08-0F98892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E4DD1-C82E-41D9-9367-EC105FF7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699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Run the source and fact check, then add your source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2D579E-F492-45A6-BF3B-34B98FE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46A1F-3E43-4CA9-8D70-CD346ABE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11805-9288-4EC9-893E-CAE58D49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8003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1CF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21222-1204-4A47-93A4-C79490C8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305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One-to-four-page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  <a:p xmlns:a="http://schemas.openxmlformats.org/drawingml/2006/main">
            <a:pPr algn="ctr">
              <a:def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article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0CEB1-C093-46A0-9C06-734594F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686BA-F61A-4EB5-8763-EF432AE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91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Research and creative recommendation in one paper.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FBDE7-7964-438A-A63A-BAE6AA4F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4 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F3749-897D-41B4-AE61-2AEB488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362D2-66B8-40C8-A643-6CFBA13F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152AF-0D6D-411C-9D85-64AD466F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6097E-B469-418B-B6D1-313180FA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965889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967F1-4E4C-4AD4-AC7B-D92C9A8D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Say your claim out loud in one sentence.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B4383-939E-44A3-BFCF-13FF4BE5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97C34-5663-4A44-9694-26337C9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AC17-0A8B-4287-9F8D-F7A5ACC9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544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0AEAD-1C2E-42CD-B1E2-A6702122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8FD0E-8EC9-4671-ADC9-4077081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4483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276B8-1EF0-49E5-B2A9-9757A1A4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3731-DD96-4E7A-A8A3-75EE3108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is your paper's one claim?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C072E-79A6-4D12-94E9-022ED2E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EE60C-0D39-4B7F-9C61-1158E41C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052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section was hardest to source?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3F68D-852E-45B4-B989-3DE672A1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12578-70C8-4791-BADE-918A805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did you cut?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7719B-DA7D-4522-BDD5-9C032F98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8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FF9B9-2F84-4F9E-8B6C-88567BEE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518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73537-2971-4A33-B38E-D8B081E8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4864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5CA34-5F83-4CBD-90F8-1B535C7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Create for a real audience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80B92-7163-4FE4-BA00-51CACD17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623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DDE5B-4730-43F4-842F-22F40D39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4724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the customer you just described and build an advertisement aimed at that exact person.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3BF84-EDA9-4EBF-BC31-84D4056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B2A82-EE7E-4318-AE91-E3D58B9A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51BBD-8736-4024-A8CC-4C02E6C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25FF9-639C-480C-A71F-E0CF0C8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A2EAB-6BDA-41AE-96D7-A44C215E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54675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0E4F63-01B6-455D-8C90-6ABE536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8016-71FA-44BA-9CC0-59DE51D2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455FB-5F1C-4868-99D8-9572002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1C41D-7B64-43B0-8A30-BACF807D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77B05-3B5B-458B-839A-12F98D9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FE06F-09BD-4FDE-9BDB-87B266A5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D93FE-3149-45D4-8818-31F3B75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A93D1-A52A-45C2-B1F4-9167248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805C9-8AE6-46CE-AD3C-40329C12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BD00D-1634-42F9-A83B-2F28D470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106F0-898D-42F6-975F-94DF47A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D66B-1D6E-493E-8A11-7B0597E9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40541-311C-47F1-BB06-7CBA533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A2378-DE4A-4BB0-9478-86747F14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46BAF-191D-4244-ABCE-F070BCA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217D9-4840-4319-B9B9-B26FAE09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8A84A-75D5-4E45-96C9-9E04F93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70102-E6A4-4D69-9BF7-E3E578AB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Advantage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C36D0-FEAA-48F7-B876-BBD69992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investopedia.com/terms/c/competitive_advantage.asp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6BD1F-18B9-4336-B718-34C7D90F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F2779-1463-43A0-A314-8A37F77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2BA54-430A-4AD5-836B-88AEE77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F5485-1C2D-4425-B02E-50D6210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SWOT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7D4CF-D213-409C-A598-C8F317A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investopedia.com/terms/s/swot.asp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0454D-106E-4CD0-A071-D01B214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45534-582E-4201-A5F8-564EBAFE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411D7-3949-44D2-9092-F4E0F92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4312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BEF6E-8B90-4C8F-9296-C4F41DC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2A42D-3AA2-4699-95D6-0AE1D5F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43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investopedia.com/terms/b/businessmodel.asp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65564C-8BF0-435F-A9BB-EFA6357F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6F6D1-1C75-4AC9-AB1E-E42EC07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64DFB0-D1B9-4E5C-8A7A-796E0017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BF0EB-7057-41B6-8B07-9BDBF759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6AD216-30C4-4077-B9DA-84C0056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4332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investopedia.com/terms/b/business-plan.asp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6A90A-D969-4A26-948A-ADAFBD59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602E6E-B64A-4FC4-A6D7-5BA828B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7D5A59-0DF0-48A4-BD36-CD97242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D473C9-9F14-4D7C-8DED-F11FC6B7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89F80-1797-4B7E-AB3F-489ED344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434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investopedia.com/terms/v/valueproposition.asp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CCCAE6-15DB-492F-A58B-36A2120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57775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FC9"/>
          </a:solidFill>
          <a:ln xmlns:a="http://schemas.openxmlformats.org/drawingml/2006/main" w="19050">
            <a:solidFill>
              <a:srgbClr val="52677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2F93CE-237A-458F-81AA-1884A0F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57775"/>
            <a:ext cx="114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2E585-E918-4CEE-B0D5-5523B3A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435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California State University Chico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BBF3E9-307C-4113-B62E-8E32720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006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CRAAP Test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1FE215-3EC0-4679-A147-5735A06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435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library.csuchico.edu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443547-573F-4AB8-9E9E-436FA2FC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54B288-A28E-49BC-B057-620453A6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27851-B378-4E8E-B20B-58D64BC4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76EF05-85CD-4DF4-AB43-7932DB1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67702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141256-8448-4FC2-B593-73D8611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913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62472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2026-09-25T01:36:47.0130000Z</dcterms:created>
  <dcterms:modified xsi:type="dcterms:W3CDTF">2026-09-25T01:36:47.0130000Z</dcterms:modified>
</coreProperties>
</file>